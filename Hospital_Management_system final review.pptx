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302" r:id="rId4"/>
    <p:sldId id="301" r:id="rId5"/>
    <p:sldId id="285" r:id="rId6"/>
    <p:sldId id="284" r:id="rId7"/>
    <p:sldId id="288" r:id="rId8"/>
    <p:sldId id="287" r:id="rId9"/>
    <p:sldId id="300" r:id="rId10"/>
    <p:sldId id="292" r:id="rId11"/>
    <p:sldId id="303" r:id="rId12"/>
    <p:sldId id="304" r:id="rId13"/>
    <p:sldId id="293" r:id="rId14"/>
    <p:sldId id="305" r:id="rId15"/>
    <p:sldId id="294" r:id="rId16"/>
    <p:sldId id="295" r:id="rId17"/>
    <p:sldId id="296" r:id="rId18"/>
    <p:sldId id="299" r:id="rId19"/>
    <p:sldId id="297" r:id="rId20"/>
    <p:sldId id="268" r:id="rId21"/>
    <p:sldId id="269" r:id="rId22"/>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4" autoAdjust="0"/>
    <p:restoredTop sz="94660"/>
  </p:normalViewPr>
  <p:slideViewPr>
    <p:cSldViewPr>
      <p:cViewPr varScale="1">
        <p:scale>
          <a:sx n="80" d="100"/>
          <a:sy n="80" d="100"/>
        </p:scale>
        <p:origin x="1584"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22-09-2026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hyperlink" Target="https://github.com/Sirisha-kunduri/Hospital-Management-System-" TargetMode="External"/><Relationship Id="rId3" Type="http://schemas.openxmlformats.org/officeDocument/2006/relationships/image" Target="../media/image7.png"/><Relationship Id="rId7" Type="http://schemas.openxmlformats.org/officeDocument/2006/relationships/hyperlink" Target="https://github.com/ramyasripalati/Hospital-Management-System" TargetMode="External"/><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hyperlink" Target="https://github.com/jishmitha31-hash/hospital-management-system" TargetMode="External"/><Relationship Id="rId5"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hyperlink" Target="https://github.com/udathasowjanya/Hospital-management-syste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265624" y="1197215"/>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Database Management Systems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 (Review I &amp; II)</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735638"/>
          </a:xfrm>
          <a:prstGeom prst="rect">
            <a:avLst/>
          </a:prstGeom>
        </p:spPr>
        <p:txBody>
          <a:bodyPr vert="horz" wrap="square" lIns="0" tIns="16510" rIns="0" bIns="0" rtlCol="0">
            <a:spAutoFit/>
          </a:bodyPr>
          <a:lstStyle/>
          <a:p>
            <a:pPr algn="ctr">
              <a:lnSpc>
                <a:spcPct val="100000"/>
              </a:lnSpc>
              <a:spcBef>
                <a:spcPts val="130"/>
              </a:spcBef>
            </a:pPr>
            <a:r>
              <a:rPr lang="en-IN" sz="2400" dirty="0"/>
              <a:t>HOSPITAL MANAGEMENT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K. </a:t>
            </a:r>
            <a:r>
              <a:rPr lang="en-IN" sz="2000" spc="-10" dirty="0" err="1">
                <a:solidFill>
                  <a:srgbClr val="17375E"/>
                </a:solidFill>
                <a:latin typeface="Times New Roman" panose="02020603050405020304" pitchFamily="18" charset="0"/>
                <a:cs typeface="Times New Roman" panose="02020603050405020304" pitchFamily="18" charset="0"/>
              </a:rPr>
              <a:t>Jishmitha</a:t>
            </a:r>
            <a:r>
              <a:rPr lang="en-IN" sz="2000" spc="-10" dirty="0">
                <a:solidFill>
                  <a:srgbClr val="17375E"/>
                </a:solidFill>
                <a:latin typeface="Times New Roman" panose="02020603050405020304" pitchFamily="18" charset="0"/>
                <a:cs typeface="Times New Roman" panose="02020603050405020304" pitchFamily="18" charset="0"/>
              </a:rPr>
              <a:t> (25B11AI467)</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P. Ramya Sri (25B11AI878)</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K. Sirisha (25B11AIB40)</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U. Sowjanya (25B11AIC19)</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t>
            </a:r>
            <a:r>
              <a:rPr lang="en-IN" sz="2200" dirty="0">
                <a:solidFill>
                  <a:srgbClr val="943735"/>
                </a:solidFill>
                <a:latin typeface="Times New Roman" panose="02020603050405020304" pitchFamily="18" charset="0"/>
                <a:cs typeface="Times New Roman" panose="02020603050405020304" pitchFamily="18" charset="0"/>
              </a:rPr>
              <a:t>Artificial Intelligence &amp;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r>
              <a:rPr lang="en-IN" sz="1800" dirty="0"/>
              <a:t>Guide: </a:t>
            </a:r>
            <a:r>
              <a:rPr lang="en-IN" sz="1800" dirty="0" err="1"/>
              <a:t>Mrs.V.G.L</a:t>
            </a:r>
            <a:r>
              <a:rPr lang="en-IN" sz="1800" dirty="0"/>
              <a:t>. </a:t>
            </a:r>
            <a:r>
              <a:rPr lang="en-IN" sz="1800" dirty="0" err="1"/>
              <a:t>Narasamba</a:t>
            </a: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700000" y="1497893"/>
            <a:ext cx="4100000"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000" dirty="0">
                <a:latin typeface="Times New Roman" panose="02020603050405020304" pitchFamily="18" charset="0"/>
                <a:cs typeface="Times New Roman" panose="02020603050405020304" pitchFamily="18" charset="0"/>
              </a:rPr>
              <a:t>Abstract</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Finalize title, objectives &amp; problem statement</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Identify entities &amp; attributes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Design ER diagram &amp; relationships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Prepare relational database schema</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Define Primary &amp; Foreign Keys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Create GitHub repo &amp; responsibilities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Database creation &amp; constraints</a:t>
            </a:r>
          </a:p>
        </p:txBody>
      </p:sp>
      <p:sp>
        <p:nvSpPr>
          <p:cNvPr id="20" name="object 20"/>
          <p:cNvSpPr txBox="1"/>
          <p:nvPr/>
        </p:nvSpPr>
        <p:spPr>
          <a:xfrm>
            <a:off x="5100000" y="1497893"/>
            <a:ext cx="4100000"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startAt="9"/>
              <a:tabLst>
                <a:tab pos="389890" algn="l"/>
              </a:tabLst>
            </a:pPr>
            <a:r>
              <a:rPr lang="en-IN" sz="2000" dirty="0">
                <a:latin typeface="Times New Roman" panose="02020603050405020304" pitchFamily="18" charset="0"/>
                <a:cs typeface="Times New Roman" panose="02020603050405020304" pitchFamily="18" charset="0"/>
              </a:rPr>
              <a:t>Insert sample data</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DDL, DML &amp; DQL operations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CRUD operations &amp; SQL queries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Data integrity &amp; validation</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Project documentation</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Demonstrate &amp; present database</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4992A-84DA-1BCD-86CF-7998D8A07369}"/>
              </a:ext>
            </a:extLst>
          </p:cNvPr>
          <p:cNvSpPr>
            <a:spLocks noGrp="1"/>
          </p:cNvSpPr>
          <p:nvPr>
            <p:ph type="title"/>
          </p:nvPr>
        </p:nvSpPr>
        <p:spPr>
          <a:xfrm>
            <a:off x="5638800" y="3962400"/>
            <a:ext cx="3505200" cy="492443"/>
          </a:xfrm>
        </p:spPr>
        <p:txBody>
          <a:bodyPr/>
          <a:lstStyle/>
          <a:p>
            <a:r>
              <a:rPr lang="en-US" sz="3200" b="0" dirty="0"/>
              <a:t>.</a:t>
            </a:r>
            <a:endParaRPr lang="en-IN" sz="3200" b="0" dirty="0"/>
          </a:p>
        </p:txBody>
      </p:sp>
      <p:sp>
        <p:nvSpPr>
          <p:cNvPr id="3" name="Text Placeholder 2">
            <a:extLst>
              <a:ext uri="{FF2B5EF4-FFF2-40B4-BE49-F238E27FC236}">
                <a16:creationId xmlns:a16="http://schemas.microsoft.com/office/drawing/2014/main" id="{01E312C7-7539-D9A1-709A-632831232F97}"/>
              </a:ext>
            </a:extLst>
          </p:cNvPr>
          <p:cNvSpPr>
            <a:spLocks noGrp="1"/>
          </p:cNvSpPr>
          <p:nvPr>
            <p:ph type="body" idx="1"/>
          </p:nvPr>
        </p:nvSpPr>
        <p:spPr>
          <a:xfrm>
            <a:off x="609600" y="1676399"/>
            <a:ext cx="8991600" cy="2700739"/>
          </a:xfrm>
        </p:spPr>
        <p:txBody>
          <a:bodyPr/>
          <a:lstStyle/>
          <a:p>
            <a:r>
              <a:rPr lang="en-IN" b="0" dirty="0"/>
              <a:t>Hospitals handle large volumes of sensitive data — patient records, doctor schedules, appointments, treatments, and billing — often across manual registers or disconnected spreadsheets. </a:t>
            </a:r>
          </a:p>
          <a:p>
            <a:endParaRPr lang="en-IN" b="0" dirty="0"/>
          </a:p>
          <a:p>
            <a:r>
              <a:rPr lang="en-IN" b="0" dirty="0"/>
              <a:t>This leads to duplicate records, slow retrieval of patient history, scheduling conflicts, and billing errors — directly affecting patient care quality.</a:t>
            </a:r>
          </a:p>
          <a:p>
            <a:endParaRPr lang="en-IN" b="0" dirty="0"/>
          </a:p>
          <a:p>
            <a:r>
              <a:rPr lang="en-IN" b="0" dirty="0"/>
              <a:t> A centralized, well-structured relational database is needed to store, relate, and retrieve hospital data reliably and efficiently</a:t>
            </a:r>
          </a:p>
        </p:txBody>
      </p:sp>
      <p:pic>
        <p:nvPicPr>
          <p:cNvPr id="5" name="object 3">
            <a:extLst>
              <a:ext uri="{FF2B5EF4-FFF2-40B4-BE49-F238E27FC236}">
                <a16:creationId xmlns:a16="http://schemas.microsoft.com/office/drawing/2014/main" id="{A71AD963-B3D7-1E58-F979-5481AFE712BB}"/>
              </a:ext>
            </a:extLst>
          </p:cNvPr>
          <p:cNvPicPr/>
          <p:nvPr/>
        </p:nvPicPr>
        <p:blipFill>
          <a:blip r:embed="rId2" cstate="print"/>
          <a:stretch>
            <a:fillRect/>
          </a:stretch>
        </p:blipFill>
        <p:spPr>
          <a:xfrm>
            <a:off x="396393" y="246100"/>
            <a:ext cx="1163002" cy="424338"/>
          </a:xfrm>
          <a:prstGeom prst="rect">
            <a:avLst/>
          </a:prstGeom>
        </p:spPr>
      </p:pic>
      <p:grpSp>
        <p:nvGrpSpPr>
          <p:cNvPr id="4" name="object 3">
            <a:extLst>
              <a:ext uri="{FF2B5EF4-FFF2-40B4-BE49-F238E27FC236}">
                <a16:creationId xmlns:a16="http://schemas.microsoft.com/office/drawing/2014/main" id="{887F6D02-A4E8-3752-75E0-8221C1687CBC}"/>
              </a:ext>
            </a:extLst>
          </p:cNvPr>
          <p:cNvGrpSpPr/>
          <p:nvPr/>
        </p:nvGrpSpPr>
        <p:grpSpPr>
          <a:xfrm>
            <a:off x="2553448" y="152400"/>
            <a:ext cx="5103904" cy="1198311"/>
            <a:chOff x="2648188" y="47148"/>
            <a:chExt cx="5103904" cy="1198311"/>
          </a:xfrm>
        </p:grpSpPr>
        <p:pic>
          <p:nvPicPr>
            <p:cNvPr id="6" name="object 4">
              <a:extLst>
                <a:ext uri="{FF2B5EF4-FFF2-40B4-BE49-F238E27FC236}">
                  <a16:creationId xmlns:a16="http://schemas.microsoft.com/office/drawing/2014/main" id="{6D8B1FB9-DF51-8EAA-80FF-9A6880E30D2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1E32D4D-B7C2-C968-BD60-A59E63A61A8A}"/>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B2221DD6-945C-3FFE-79FD-03DD75C76BC2}"/>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2B3A50A-D4BA-55CA-B5F5-4FFE759AFB9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1" name="TextBox 10">
            <a:extLst>
              <a:ext uri="{FF2B5EF4-FFF2-40B4-BE49-F238E27FC236}">
                <a16:creationId xmlns:a16="http://schemas.microsoft.com/office/drawing/2014/main" id="{3B25EE93-6C6B-31CF-5DE4-5BCAFE3A09C1}"/>
              </a:ext>
            </a:extLst>
          </p:cNvPr>
          <p:cNvSpPr txBox="1"/>
          <p:nvPr/>
        </p:nvSpPr>
        <p:spPr>
          <a:xfrm>
            <a:off x="3807153" y="410028"/>
            <a:ext cx="2520242" cy="400110"/>
          </a:xfrm>
          <a:prstGeom prst="rect">
            <a:avLst/>
          </a:prstGeom>
          <a:noFill/>
        </p:spPr>
        <p:txBody>
          <a:bodyPr wrap="none" rtlCol="0">
            <a:spAutoFit/>
          </a:bodyPr>
          <a:lstStyle/>
          <a:p>
            <a:r>
              <a:rPr lang="en-IN" sz="2000" b="1" dirty="0">
                <a:solidFill>
                  <a:schemeClr val="bg1"/>
                </a:solidFill>
              </a:rPr>
              <a:t>Problem Statement</a:t>
            </a:r>
          </a:p>
        </p:txBody>
      </p:sp>
    </p:spTree>
    <p:extLst>
      <p:ext uri="{BB962C8B-B14F-4D97-AF65-F5344CB8AC3E}">
        <p14:creationId xmlns:p14="http://schemas.microsoft.com/office/powerpoint/2010/main" val="1031202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FA388-3F88-83CD-4819-CB2FF9355A7D}"/>
              </a:ext>
            </a:extLst>
          </p:cNvPr>
          <p:cNvSpPr>
            <a:spLocks noGrp="1"/>
          </p:cNvSpPr>
          <p:nvPr>
            <p:ph type="title"/>
          </p:nvPr>
        </p:nvSpPr>
        <p:spPr>
          <a:xfrm>
            <a:off x="3689680" y="6702953"/>
            <a:ext cx="3733800" cy="723275"/>
          </a:xfrm>
        </p:spPr>
        <p:txBody>
          <a:bodyPr/>
          <a:lstStyle/>
          <a:p>
            <a:br>
              <a:rPr lang="en-IN" sz="2400" dirty="0"/>
            </a:br>
            <a:endParaRPr lang="en-IN" dirty="0"/>
          </a:p>
        </p:txBody>
      </p:sp>
      <p:sp>
        <p:nvSpPr>
          <p:cNvPr id="3" name="Text Placeholder 2">
            <a:extLst>
              <a:ext uri="{FF2B5EF4-FFF2-40B4-BE49-F238E27FC236}">
                <a16:creationId xmlns:a16="http://schemas.microsoft.com/office/drawing/2014/main" id="{2F5BE8DD-F0C0-7D7E-7453-35381006F54A}"/>
              </a:ext>
            </a:extLst>
          </p:cNvPr>
          <p:cNvSpPr>
            <a:spLocks noGrp="1"/>
          </p:cNvSpPr>
          <p:nvPr>
            <p:ph type="body" idx="1"/>
          </p:nvPr>
        </p:nvSpPr>
        <p:spPr>
          <a:xfrm>
            <a:off x="621188" y="1409149"/>
            <a:ext cx="8949055" cy="5401479"/>
          </a:xfrm>
        </p:spPr>
        <p:txBody>
          <a:bodyPr/>
          <a:lstStyle/>
          <a:p>
            <a:pPr marL="342900" indent="-342900">
              <a:buFont typeface="Wingdings" panose="05000000000000000000" pitchFamily="2" charset="2"/>
              <a:buChar char="Ø"/>
            </a:pPr>
            <a:r>
              <a:rPr lang="en-IN" b="0" dirty="0"/>
              <a:t>Design a normalized relational database that models core hospital operation  send-to-end.</a:t>
            </a:r>
          </a:p>
          <a:p>
            <a:endParaRPr lang="en-IN" b="0" dirty="0"/>
          </a:p>
          <a:p>
            <a:pPr marL="342900" indent="-342900">
              <a:buFont typeface="Wingdings" panose="05000000000000000000" pitchFamily="2" charset="2"/>
              <a:buChar char="Ø"/>
            </a:pPr>
            <a:r>
              <a:rPr lang="en-IN" b="0" dirty="0"/>
              <a:t>Identify key entities (Patient, Doctor, Department, etc.)and define precise attributes for each. </a:t>
            </a:r>
          </a:p>
          <a:p>
            <a:endParaRPr lang="en-IN" b="0" dirty="0"/>
          </a:p>
          <a:p>
            <a:pPr marL="342900" indent="-342900">
              <a:buFont typeface="Wingdings" panose="05000000000000000000" pitchFamily="2" charset="2"/>
              <a:buChar char="Ø"/>
            </a:pPr>
            <a:r>
              <a:rPr lang="en-IN" b="0" dirty="0"/>
              <a:t>Build a clear ER diagram capturing relationships and cardinalities between entities.</a:t>
            </a:r>
          </a:p>
          <a:p>
            <a:endParaRPr lang="en-IN" b="0" dirty="0"/>
          </a:p>
          <a:p>
            <a:pPr marL="342900" indent="-342900">
              <a:buFont typeface="Wingdings" panose="05000000000000000000" pitchFamily="2" charset="2"/>
              <a:buChar char="Ø"/>
            </a:pPr>
            <a:r>
              <a:rPr lang="en-IN" b="0" dirty="0"/>
              <a:t> Translate the ER model into a relational schema with well-defined tables and columns. </a:t>
            </a:r>
          </a:p>
          <a:p>
            <a:endParaRPr lang="en-IN" b="0" dirty="0"/>
          </a:p>
          <a:p>
            <a:pPr marL="342900" indent="-342900">
              <a:buFont typeface="Wingdings" panose="05000000000000000000" pitchFamily="2" charset="2"/>
              <a:buChar char="Ø"/>
            </a:pPr>
            <a:r>
              <a:rPr lang="en-IN" b="0" dirty="0"/>
              <a:t>Enforce data integrity through Primary Key and Foreign Key constraints. </a:t>
            </a:r>
          </a:p>
          <a:p>
            <a:endParaRPr lang="en-IN" b="0" dirty="0"/>
          </a:p>
          <a:p>
            <a:pPr marL="342900" indent="-342900">
              <a:buFont typeface="Wingdings" panose="05000000000000000000" pitchFamily="2" charset="2"/>
              <a:buChar char="Ø"/>
            </a:pPr>
            <a:r>
              <a:rPr lang="en-IN" b="0" dirty="0"/>
              <a:t>Enable fast, accurate retrieval of patient history, appointments, and billing records.</a:t>
            </a:r>
          </a:p>
          <a:p>
            <a:endParaRPr lang="en-IN" b="0" dirty="0"/>
          </a:p>
          <a:p>
            <a:pPr marL="342900" indent="-342900">
              <a:buFont typeface="Wingdings" panose="05000000000000000000" pitchFamily="2" charset="2"/>
              <a:buChar char="Ø"/>
            </a:pPr>
            <a:r>
              <a:rPr lang="en-IN" b="0" dirty="0"/>
              <a:t>Advantages  </a:t>
            </a:r>
          </a:p>
        </p:txBody>
      </p:sp>
      <p:pic>
        <p:nvPicPr>
          <p:cNvPr id="6" name="object 3">
            <a:extLst>
              <a:ext uri="{FF2B5EF4-FFF2-40B4-BE49-F238E27FC236}">
                <a16:creationId xmlns:a16="http://schemas.microsoft.com/office/drawing/2014/main" id="{3BBC1C6B-89BD-EE43-95F1-D1740ED07BC6}"/>
              </a:ext>
            </a:extLst>
          </p:cNvPr>
          <p:cNvPicPr/>
          <p:nvPr/>
        </p:nvPicPr>
        <p:blipFill>
          <a:blip r:embed="rId2" cstate="print"/>
          <a:stretch>
            <a:fillRect/>
          </a:stretch>
        </p:blipFill>
        <p:spPr>
          <a:xfrm>
            <a:off x="396393" y="246100"/>
            <a:ext cx="1163002" cy="424338"/>
          </a:xfrm>
          <a:prstGeom prst="rect">
            <a:avLst/>
          </a:prstGeom>
        </p:spPr>
      </p:pic>
      <p:grpSp>
        <p:nvGrpSpPr>
          <p:cNvPr id="10" name="object 3">
            <a:extLst>
              <a:ext uri="{FF2B5EF4-FFF2-40B4-BE49-F238E27FC236}">
                <a16:creationId xmlns:a16="http://schemas.microsoft.com/office/drawing/2014/main" id="{45A5E46E-E91F-9ED8-826E-2183DE1ED7B1}"/>
              </a:ext>
            </a:extLst>
          </p:cNvPr>
          <p:cNvGrpSpPr/>
          <p:nvPr/>
        </p:nvGrpSpPr>
        <p:grpSpPr>
          <a:xfrm>
            <a:off x="2667000" y="85008"/>
            <a:ext cx="5103904" cy="1198311"/>
            <a:chOff x="2648188" y="47148"/>
            <a:chExt cx="5103904" cy="1198311"/>
          </a:xfrm>
        </p:grpSpPr>
        <p:pic>
          <p:nvPicPr>
            <p:cNvPr id="11" name="object 4">
              <a:extLst>
                <a:ext uri="{FF2B5EF4-FFF2-40B4-BE49-F238E27FC236}">
                  <a16:creationId xmlns:a16="http://schemas.microsoft.com/office/drawing/2014/main" id="{37D11D3D-65A3-31D2-7E67-4858CA3C34B2}"/>
                </a:ext>
              </a:extLst>
            </p:cNvPr>
            <p:cNvPicPr/>
            <p:nvPr/>
          </p:nvPicPr>
          <p:blipFill>
            <a:blip r:embed="rId3" cstate="print"/>
            <a:stretch>
              <a:fillRect/>
            </a:stretch>
          </p:blipFill>
          <p:spPr>
            <a:xfrm>
              <a:off x="2648188" y="47148"/>
              <a:ext cx="5103904" cy="1198311"/>
            </a:xfrm>
            <a:prstGeom prst="rect">
              <a:avLst/>
            </a:prstGeom>
          </p:spPr>
        </p:pic>
        <p:pic>
          <p:nvPicPr>
            <p:cNvPr id="12" name="object 5">
              <a:extLst>
                <a:ext uri="{FF2B5EF4-FFF2-40B4-BE49-F238E27FC236}">
                  <a16:creationId xmlns:a16="http://schemas.microsoft.com/office/drawing/2014/main" id="{5E12A93C-0C53-4DAE-64BA-1EA2A7B74A0D}"/>
                </a:ext>
              </a:extLst>
            </p:cNvPr>
            <p:cNvPicPr/>
            <p:nvPr/>
          </p:nvPicPr>
          <p:blipFill>
            <a:blip r:embed="rId4" cstate="print"/>
            <a:stretch>
              <a:fillRect/>
            </a:stretch>
          </p:blipFill>
          <p:spPr>
            <a:xfrm>
              <a:off x="2703195" y="86439"/>
              <a:ext cx="4997767" cy="1092279"/>
            </a:xfrm>
            <a:prstGeom prst="rect">
              <a:avLst/>
            </a:prstGeom>
          </p:spPr>
        </p:pic>
        <p:pic>
          <p:nvPicPr>
            <p:cNvPr id="13" name="object 6">
              <a:extLst>
                <a:ext uri="{FF2B5EF4-FFF2-40B4-BE49-F238E27FC236}">
                  <a16:creationId xmlns:a16="http://schemas.microsoft.com/office/drawing/2014/main" id="{F31ACB3C-3294-9915-5F71-92DAE0A618EB}"/>
                </a:ext>
              </a:extLst>
            </p:cNvPr>
            <p:cNvPicPr/>
            <p:nvPr/>
          </p:nvPicPr>
          <p:blipFill>
            <a:blip r:embed="rId5" cstate="print"/>
            <a:stretch>
              <a:fillRect/>
            </a:stretch>
          </p:blipFill>
          <p:spPr>
            <a:xfrm>
              <a:off x="2828925" y="243549"/>
              <a:ext cx="4585268" cy="522565"/>
            </a:xfrm>
            <a:prstGeom prst="rect">
              <a:avLst/>
            </a:prstGeom>
          </p:spPr>
        </p:pic>
        <p:sp>
          <p:nvSpPr>
            <p:cNvPr id="14" name="object 7">
              <a:extLst>
                <a:ext uri="{FF2B5EF4-FFF2-40B4-BE49-F238E27FC236}">
                  <a16:creationId xmlns:a16="http://schemas.microsoft.com/office/drawing/2014/main" id="{67594B47-6CD6-80FE-2E16-4C5B4F07A7A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7" name="TextBox 16">
            <a:extLst>
              <a:ext uri="{FF2B5EF4-FFF2-40B4-BE49-F238E27FC236}">
                <a16:creationId xmlns:a16="http://schemas.microsoft.com/office/drawing/2014/main" id="{2B473733-0EC2-AF84-D2D8-7D10E4A0EFC1}"/>
              </a:ext>
            </a:extLst>
          </p:cNvPr>
          <p:cNvSpPr txBox="1"/>
          <p:nvPr/>
        </p:nvSpPr>
        <p:spPr>
          <a:xfrm>
            <a:off x="3886200" y="346172"/>
            <a:ext cx="2729929" cy="400110"/>
          </a:xfrm>
          <a:prstGeom prst="rect">
            <a:avLst/>
          </a:prstGeom>
          <a:noFill/>
        </p:spPr>
        <p:txBody>
          <a:bodyPr wrap="square" rtlCol="0">
            <a:spAutoFit/>
          </a:bodyPr>
          <a:lstStyle/>
          <a:p>
            <a:r>
              <a:rPr lang="en-IN" sz="2000" b="1" dirty="0">
                <a:solidFill>
                  <a:schemeClr val="bg1"/>
                </a:solidFill>
              </a:rPr>
              <a:t>Project Objectives</a:t>
            </a:r>
          </a:p>
        </p:txBody>
      </p:sp>
    </p:spTree>
    <p:extLst>
      <p:ext uri="{BB962C8B-B14F-4D97-AF65-F5344CB8AC3E}">
        <p14:creationId xmlns:p14="http://schemas.microsoft.com/office/powerpoint/2010/main" val="2623656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32346" y="29493"/>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ENTITIES &amp; ATTRIBUTES</a:t>
            </a:r>
          </a:p>
        </p:txBody>
      </p:sp>
      <p:sp>
        <p:nvSpPr>
          <p:cNvPr id="11" name="TextBox 10">
            <a:extLst>
              <a:ext uri="{FF2B5EF4-FFF2-40B4-BE49-F238E27FC236}">
                <a16:creationId xmlns:a16="http://schemas.microsoft.com/office/drawing/2014/main" id="{76EDC818-94F7-A755-E5B9-966B08FDED31}"/>
              </a:ext>
            </a:extLst>
          </p:cNvPr>
          <p:cNvSpPr txBox="1"/>
          <p:nvPr/>
        </p:nvSpPr>
        <p:spPr>
          <a:xfrm>
            <a:off x="767731" y="990600"/>
            <a:ext cx="500469" cy="6186309"/>
          </a:xfrm>
          <a:prstGeom prst="rect">
            <a:avLst/>
          </a:prstGeom>
          <a:noFill/>
        </p:spPr>
        <p:txBody>
          <a:bodyPr wrap="square" rtlCol="0">
            <a:spAutoFit/>
          </a:bodyPr>
          <a:lstStyle/>
          <a:p>
            <a:r>
              <a:rPr lang="en-US" b="1" dirty="0"/>
              <a:t>No</a:t>
            </a:r>
          </a:p>
          <a:p>
            <a:r>
              <a:rPr lang="en-US" dirty="0"/>
              <a:t>1.</a:t>
            </a:r>
          </a:p>
          <a:p>
            <a:endParaRPr lang="en-US" dirty="0"/>
          </a:p>
          <a:p>
            <a:endParaRPr lang="en-US" dirty="0"/>
          </a:p>
          <a:p>
            <a:r>
              <a:rPr lang="en-US" dirty="0"/>
              <a:t>2.</a:t>
            </a:r>
          </a:p>
          <a:p>
            <a:endParaRPr lang="en-US" dirty="0"/>
          </a:p>
          <a:p>
            <a:endParaRPr lang="en-US" dirty="0"/>
          </a:p>
          <a:p>
            <a:r>
              <a:rPr lang="en-US" dirty="0"/>
              <a:t>3.</a:t>
            </a:r>
          </a:p>
          <a:p>
            <a:endParaRPr lang="en-US" dirty="0"/>
          </a:p>
          <a:p>
            <a:r>
              <a:rPr lang="en-US" dirty="0"/>
              <a:t>4.</a:t>
            </a:r>
          </a:p>
          <a:p>
            <a:endParaRPr lang="en-US" dirty="0"/>
          </a:p>
          <a:p>
            <a:endParaRPr lang="en-US" dirty="0"/>
          </a:p>
          <a:p>
            <a:r>
              <a:rPr lang="en-US" dirty="0"/>
              <a:t>5.</a:t>
            </a:r>
          </a:p>
          <a:p>
            <a:endParaRPr lang="en-US" dirty="0"/>
          </a:p>
          <a:p>
            <a:endParaRPr lang="en-US" dirty="0"/>
          </a:p>
          <a:p>
            <a:r>
              <a:rPr lang="en-US" dirty="0"/>
              <a:t>6.</a:t>
            </a:r>
          </a:p>
          <a:p>
            <a:endParaRPr lang="en-US" dirty="0"/>
          </a:p>
          <a:p>
            <a:endParaRPr lang="en-US" dirty="0"/>
          </a:p>
          <a:p>
            <a:r>
              <a:rPr lang="en-US" dirty="0"/>
              <a:t>7.</a:t>
            </a:r>
          </a:p>
          <a:p>
            <a:endParaRPr lang="en-US" dirty="0"/>
          </a:p>
          <a:p>
            <a:endParaRPr lang="en-US" dirty="0"/>
          </a:p>
          <a:p>
            <a:r>
              <a:rPr lang="en-US" dirty="0"/>
              <a:t>8.</a:t>
            </a:r>
          </a:p>
        </p:txBody>
      </p:sp>
      <p:sp>
        <p:nvSpPr>
          <p:cNvPr id="12" name="TextBox 11">
            <a:extLst>
              <a:ext uri="{FF2B5EF4-FFF2-40B4-BE49-F238E27FC236}">
                <a16:creationId xmlns:a16="http://schemas.microsoft.com/office/drawing/2014/main" id="{465CFEA0-C46F-E912-25BE-F8CCC16CFB40}"/>
              </a:ext>
            </a:extLst>
          </p:cNvPr>
          <p:cNvSpPr txBox="1"/>
          <p:nvPr/>
        </p:nvSpPr>
        <p:spPr>
          <a:xfrm>
            <a:off x="2353042" y="1003770"/>
            <a:ext cx="1787669" cy="6186309"/>
          </a:xfrm>
          <a:prstGeom prst="rect">
            <a:avLst/>
          </a:prstGeom>
          <a:noFill/>
        </p:spPr>
        <p:txBody>
          <a:bodyPr wrap="none" rtlCol="0">
            <a:spAutoFit/>
          </a:bodyPr>
          <a:lstStyle/>
          <a:p>
            <a:r>
              <a:rPr lang="en-US" b="1" dirty="0"/>
              <a:t>Entity</a:t>
            </a:r>
            <a:endParaRPr lang="en-IN" dirty="0"/>
          </a:p>
          <a:p>
            <a:r>
              <a:rPr lang="en-US" dirty="0"/>
              <a:t>Patient</a:t>
            </a:r>
          </a:p>
          <a:p>
            <a:endParaRPr lang="en-US" dirty="0"/>
          </a:p>
          <a:p>
            <a:endParaRPr lang="en-US" dirty="0"/>
          </a:p>
          <a:p>
            <a:r>
              <a:rPr lang="en-US" dirty="0"/>
              <a:t>Doctor</a:t>
            </a:r>
          </a:p>
          <a:p>
            <a:endParaRPr lang="en-US" dirty="0"/>
          </a:p>
          <a:p>
            <a:endParaRPr lang="en-US" dirty="0"/>
          </a:p>
          <a:p>
            <a:r>
              <a:rPr lang="en-US" dirty="0"/>
              <a:t>Department</a:t>
            </a:r>
          </a:p>
          <a:p>
            <a:endParaRPr lang="en-US" dirty="0"/>
          </a:p>
          <a:p>
            <a:r>
              <a:rPr lang="en-US" dirty="0"/>
              <a:t>Appointment</a:t>
            </a:r>
          </a:p>
          <a:p>
            <a:endParaRPr lang="en-US" dirty="0"/>
          </a:p>
          <a:p>
            <a:endParaRPr lang="en-US" dirty="0"/>
          </a:p>
          <a:p>
            <a:r>
              <a:rPr lang="en-US" dirty="0"/>
              <a:t>Medical Record</a:t>
            </a:r>
          </a:p>
          <a:p>
            <a:endParaRPr lang="en-US" dirty="0"/>
          </a:p>
          <a:p>
            <a:endParaRPr lang="en-US" dirty="0"/>
          </a:p>
          <a:p>
            <a:r>
              <a:rPr lang="en-US" dirty="0"/>
              <a:t>Billing</a:t>
            </a:r>
          </a:p>
          <a:p>
            <a:endParaRPr lang="en-US" dirty="0"/>
          </a:p>
          <a:p>
            <a:endParaRPr lang="en-US" dirty="0"/>
          </a:p>
          <a:p>
            <a:r>
              <a:rPr lang="en-US" dirty="0"/>
              <a:t>Room</a:t>
            </a:r>
          </a:p>
          <a:p>
            <a:endParaRPr lang="en-US" dirty="0"/>
          </a:p>
          <a:p>
            <a:endParaRPr lang="en-US" dirty="0"/>
          </a:p>
          <a:p>
            <a:r>
              <a:rPr lang="en-US" dirty="0"/>
              <a:t>Staff</a:t>
            </a:r>
          </a:p>
        </p:txBody>
      </p:sp>
      <p:sp>
        <p:nvSpPr>
          <p:cNvPr id="13" name="TextBox 12">
            <a:extLst>
              <a:ext uri="{FF2B5EF4-FFF2-40B4-BE49-F238E27FC236}">
                <a16:creationId xmlns:a16="http://schemas.microsoft.com/office/drawing/2014/main" id="{CC4DF05C-86C5-8307-E82E-20B12992730A}"/>
              </a:ext>
            </a:extLst>
          </p:cNvPr>
          <p:cNvSpPr txBox="1"/>
          <p:nvPr/>
        </p:nvSpPr>
        <p:spPr>
          <a:xfrm>
            <a:off x="4626121" y="973627"/>
            <a:ext cx="5442516" cy="6186309"/>
          </a:xfrm>
          <a:prstGeom prst="rect">
            <a:avLst/>
          </a:prstGeom>
          <a:noFill/>
        </p:spPr>
        <p:txBody>
          <a:bodyPr wrap="none" rtlCol="0">
            <a:spAutoFit/>
          </a:bodyPr>
          <a:lstStyle/>
          <a:p>
            <a:r>
              <a:rPr lang="en-US" dirty="0"/>
              <a:t>             </a:t>
            </a:r>
            <a:r>
              <a:rPr lang="en-US" b="1" dirty="0"/>
              <a:t>Attributes</a:t>
            </a:r>
          </a:p>
          <a:p>
            <a:r>
              <a:rPr lang="en-IN" dirty="0" err="1"/>
              <a:t>PatientID</a:t>
            </a:r>
            <a:r>
              <a:rPr lang="en-IN" dirty="0"/>
              <a:t>, Gender, FirstName, LastName,</a:t>
            </a:r>
          </a:p>
          <a:p>
            <a:r>
              <a:rPr lang="en-IN" dirty="0"/>
              <a:t>Address, DOB, </a:t>
            </a:r>
            <a:r>
              <a:rPr lang="en-IN" dirty="0" err="1"/>
              <a:t>BloodGroup</a:t>
            </a:r>
            <a:endParaRPr lang="en-IN" dirty="0"/>
          </a:p>
          <a:p>
            <a:endParaRPr lang="en-IN" b="1" dirty="0"/>
          </a:p>
          <a:p>
            <a:r>
              <a:rPr lang="en-IN" dirty="0" err="1"/>
              <a:t>DoctorID</a:t>
            </a:r>
            <a:r>
              <a:rPr lang="en-IN" dirty="0"/>
              <a:t>, FirstName, LastName, specialization,</a:t>
            </a:r>
          </a:p>
          <a:p>
            <a:r>
              <a:rPr lang="en-IN" dirty="0"/>
              <a:t>Phone, Email, </a:t>
            </a:r>
            <a:r>
              <a:rPr lang="en-IN" dirty="0" err="1"/>
              <a:t>DepartmentID</a:t>
            </a:r>
            <a:endParaRPr lang="en-IN" dirty="0"/>
          </a:p>
          <a:p>
            <a:endParaRPr lang="en-IN" dirty="0"/>
          </a:p>
          <a:p>
            <a:r>
              <a:rPr lang="en-IN" dirty="0" err="1"/>
              <a:t>DepartmentID</a:t>
            </a:r>
            <a:r>
              <a:rPr lang="en-IN" dirty="0"/>
              <a:t>, </a:t>
            </a:r>
            <a:r>
              <a:rPr lang="en-IN" dirty="0" err="1"/>
              <a:t>DeptName</a:t>
            </a:r>
            <a:r>
              <a:rPr lang="en-IN" dirty="0"/>
              <a:t>, Location, </a:t>
            </a:r>
            <a:r>
              <a:rPr lang="en-IN" dirty="0" err="1"/>
              <a:t>HeadDoctorID</a:t>
            </a:r>
            <a:endParaRPr lang="en-IN" dirty="0"/>
          </a:p>
          <a:p>
            <a:endParaRPr lang="en-IN" dirty="0"/>
          </a:p>
          <a:p>
            <a:r>
              <a:rPr lang="en-IN" dirty="0" err="1"/>
              <a:t>AppointmentID</a:t>
            </a:r>
            <a:r>
              <a:rPr lang="en-IN" dirty="0"/>
              <a:t>, </a:t>
            </a:r>
            <a:r>
              <a:rPr lang="en-IN" dirty="0" err="1"/>
              <a:t>PatientID</a:t>
            </a:r>
            <a:r>
              <a:rPr lang="en-IN" dirty="0"/>
              <a:t>, </a:t>
            </a:r>
            <a:r>
              <a:rPr lang="en-IN" dirty="0" err="1"/>
              <a:t>DoctorID</a:t>
            </a:r>
            <a:r>
              <a:rPr lang="en-IN" dirty="0"/>
              <a:t>, </a:t>
            </a:r>
            <a:r>
              <a:rPr lang="en-IN" dirty="0" err="1"/>
              <a:t>ApptDate</a:t>
            </a:r>
            <a:r>
              <a:rPr lang="en-IN" dirty="0"/>
              <a:t>,</a:t>
            </a:r>
          </a:p>
          <a:p>
            <a:r>
              <a:rPr lang="en-IN" dirty="0" err="1"/>
              <a:t>ApptTime</a:t>
            </a:r>
            <a:r>
              <a:rPr lang="en-IN" dirty="0"/>
              <a:t>, Status</a:t>
            </a:r>
          </a:p>
          <a:p>
            <a:endParaRPr lang="en-IN" dirty="0"/>
          </a:p>
          <a:p>
            <a:r>
              <a:rPr lang="en-IN" dirty="0" err="1"/>
              <a:t>RecordID</a:t>
            </a:r>
            <a:r>
              <a:rPr lang="en-IN" dirty="0"/>
              <a:t>, </a:t>
            </a:r>
            <a:r>
              <a:rPr lang="en-IN" dirty="0" err="1"/>
              <a:t>PatientID</a:t>
            </a:r>
            <a:r>
              <a:rPr lang="en-IN" dirty="0"/>
              <a:t>, </a:t>
            </a:r>
            <a:r>
              <a:rPr lang="en-IN" dirty="0" err="1"/>
              <a:t>DoctorID</a:t>
            </a:r>
            <a:r>
              <a:rPr lang="en-IN" dirty="0"/>
              <a:t>, Diagnosis,</a:t>
            </a:r>
          </a:p>
          <a:p>
            <a:r>
              <a:rPr lang="en-IN" dirty="0"/>
              <a:t>Treatment, </a:t>
            </a:r>
            <a:r>
              <a:rPr lang="en-IN" dirty="0" err="1"/>
              <a:t>RecordDate</a:t>
            </a:r>
            <a:endParaRPr lang="en-IN" dirty="0"/>
          </a:p>
          <a:p>
            <a:endParaRPr lang="en-IN" dirty="0"/>
          </a:p>
          <a:p>
            <a:r>
              <a:rPr lang="en-IN" dirty="0" err="1"/>
              <a:t>BillID</a:t>
            </a:r>
            <a:r>
              <a:rPr lang="en-IN" dirty="0"/>
              <a:t>, </a:t>
            </a:r>
            <a:r>
              <a:rPr lang="en-IN" dirty="0" err="1"/>
              <a:t>PatientID</a:t>
            </a:r>
            <a:r>
              <a:rPr lang="en-IN" dirty="0"/>
              <a:t>,  </a:t>
            </a:r>
            <a:r>
              <a:rPr lang="en-IN" dirty="0" err="1"/>
              <a:t>AppointmentID</a:t>
            </a:r>
            <a:r>
              <a:rPr lang="en-IN" dirty="0"/>
              <a:t>, Amount,</a:t>
            </a:r>
          </a:p>
          <a:p>
            <a:r>
              <a:rPr lang="en-IN" dirty="0" err="1"/>
              <a:t>PaymentStatus</a:t>
            </a:r>
            <a:r>
              <a:rPr lang="en-IN" dirty="0"/>
              <a:t>, </a:t>
            </a:r>
            <a:r>
              <a:rPr lang="en-IN" dirty="0" err="1"/>
              <a:t>BillDate</a:t>
            </a:r>
            <a:endParaRPr lang="en-IN" dirty="0"/>
          </a:p>
          <a:p>
            <a:endParaRPr lang="en-IN" dirty="0"/>
          </a:p>
          <a:p>
            <a:r>
              <a:rPr lang="en-IN" dirty="0" err="1"/>
              <a:t>RoomID</a:t>
            </a:r>
            <a:r>
              <a:rPr lang="en-IN" dirty="0"/>
              <a:t>, </a:t>
            </a:r>
            <a:r>
              <a:rPr lang="en-IN" dirty="0" err="1"/>
              <a:t>RoomType</a:t>
            </a:r>
            <a:r>
              <a:rPr lang="en-IN" dirty="0"/>
              <a:t>, Status, </a:t>
            </a:r>
            <a:r>
              <a:rPr lang="en-IN" dirty="0" err="1"/>
              <a:t>DepartmentID</a:t>
            </a:r>
            <a:r>
              <a:rPr lang="en-IN" dirty="0"/>
              <a:t>,</a:t>
            </a:r>
          </a:p>
          <a:p>
            <a:r>
              <a:rPr lang="en-IN" dirty="0" err="1"/>
              <a:t>PatientID</a:t>
            </a:r>
            <a:r>
              <a:rPr lang="en-IN" dirty="0"/>
              <a:t>  </a:t>
            </a:r>
          </a:p>
          <a:p>
            <a:endParaRPr lang="en-IN" dirty="0"/>
          </a:p>
          <a:p>
            <a:r>
              <a:rPr lang="en-IN" dirty="0" err="1"/>
              <a:t>StaffID</a:t>
            </a:r>
            <a:r>
              <a:rPr lang="en-IN" dirty="0"/>
              <a:t>, Name, Role, Phone, </a:t>
            </a:r>
            <a:r>
              <a:rPr lang="en-IN" dirty="0" err="1"/>
              <a:t>DepartmentID</a:t>
            </a:r>
            <a:endParaRPr lang="en-IN" dirty="0"/>
          </a:p>
        </p:txBody>
      </p:sp>
    </p:spTree>
    <p:extLst>
      <p:ext uri="{BB962C8B-B14F-4D97-AF65-F5344CB8AC3E}">
        <p14:creationId xmlns:p14="http://schemas.microsoft.com/office/powerpoint/2010/main" val="26077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27A3C-9BEC-C61B-FC8D-3B949CD8902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15F0E8CC-BDB8-7C3E-7C5E-012FD1252950}"/>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DBC28A04-FC65-6F36-8766-2B93E376E261}"/>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6F9D794-31EA-8ABA-A5E3-D49E7DEF13C2}"/>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E0767A3E-73A4-9967-916C-59851FE931A3}"/>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5C64E3F9-2AFD-ACC7-6183-250AF43BDF58}"/>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01E94C25-6779-8458-E95E-F4782347F2B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D4973351-D6E2-D3B8-C7AF-9344AB18D3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50DE1838-629A-37A8-DB28-E5CABD39B264}"/>
              </a:ext>
            </a:extLst>
          </p:cNvPr>
          <p:cNvSpPr txBox="1"/>
          <p:nvPr/>
        </p:nvSpPr>
        <p:spPr>
          <a:xfrm>
            <a:off x="41910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ER DIAGRAM</a:t>
            </a:r>
          </a:p>
        </p:txBody>
      </p:sp>
      <p:sp>
        <p:nvSpPr>
          <p:cNvPr id="9" name="TextBox 8">
            <a:extLst>
              <a:ext uri="{FF2B5EF4-FFF2-40B4-BE49-F238E27FC236}">
                <a16:creationId xmlns:a16="http://schemas.microsoft.com/office/drawing/2014/main" id="{810F592E-1BC5-A7E5-94A9-5EBA752B1D71}"/>
              </a:ext>
            </a:extLst>
          </p:cNvPr>
          <p:cNvSpPr txBox="1"/>
          <p:nvPr/>
        </p:nvSpPr>
        <p:spPr>
          <a:xfrm>
            <a:off x="1565713" y="2209800"/>
            <a:ext cx="6926973"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 </a:t>
            </a:r>
          </a:p>
        </p:txBody>
      </p:sp>
      <p:pic>
        <p:nvPicPr>
          <p:cNvPr id="11" name="Picture 10">
            <a:extLst>
              <a:ext uri="{FF2B5EF4-FFF2-40B4-BE49-F238E27FC236}">
                <a16:creationId xmlns:a16="http://schemas.microsoft.com/office/drawing/2014/main" id="{A4EF2E98-9935-710B-7DED-0BD0EA68A22D}"/>
              </a:ext>
            </a:extLst>
          </p:cNvPr>
          <p:cNvPicPr>
            <a:picLocks noChangeAspect="1"/>
          </p:cNvPicPr>
          <p:nvPr/>
        </p:nvPicPr>
        <p:blipFill>
          <a:blip r:embed="rId6"/>
          <a:stretch>
            <a:fillRect/>
          </a:stretch>
        </p:blipFill>
        <p:spPr>
          <a:xfrm>
            <a:off x="191996" y="1216578"/>
            <a:ext cx="9525000" cy="6350000"/>
          </a:xfrm>
          <a:prstGeom prst="rect">
            <a:avLst/>
          </a:prstGeom>
        </p:spPr>
      </p:pic>
    </p:spTree>
    <p:extLst>
      <p:ext uri="{BB962C8B-B14F-4D97-AF65-F5344CB8AC3E}">
        <p14:creationId xmlns:p14="http://schemas.microsoft.com/office/powerpoint/2010/main" val="1149973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F62A-28CD-1AF0-FCC9-9795D99130CF}"/>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EA882BD3-FCF2-C56E-AAE2-C4D14D585E66}"/>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3CC86148-DFF8-3451-7947-2685EE95BD9F}"/>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A4DF9EE2-487D-D75F-149C-A5A989F91BE8}"/>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1618242D-8DDA-301B-EF8C-793435D7B312}"/>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669F432-648C-72A6-EE1E-52C40A5BB684}"/>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1D43B590-5504-6B74-CBB0-60480CB4BBC8}"/>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82876794-728A-676B-5B3B-0E4A8320CD7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75FAEAFE-5DA8-E3CC-E08A-02ABAA5C5423}"/>
              </a:ext>
            </a:extLst>
          </p:cNvPr>
          <p:cNvSpPr txBox="1"/>
          <p:nvPr/>
        </p:nvSpPr>
        <p:spPr>
          <a:xfrm>
            <a:off x="2895600" y="304800"/>
            <a:ext cx="50292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RELATIONAL</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DATABASE</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SCHEMA</a:t>
            </a:r>
          </a:p>
        </p:txBody>
      </p:sp>
      <p:sp>
        <p:nvSpPr>
          <p:cNvPr id="9" name="TextBox 8">
            <a:extLst>
              <a:ext uri="{FF2B5EF4-FFF2-40B4-BE49-F238E27FC236}">
                <a16:creationId xmlns:a16="http://schemas.microsoft.com/office/drawing/2014/main" id="{0F895DB9-015F-1A5A-C9C5-048003F057DB}"/>
              </a:ext>
            </a:extLst>
          </p:cNvPr>
          <p:cNvSpPr txBox="1"/>
          <p:nvPr/>
        </p:nvSpPr>
        <p:spPr>
          <a:xfrm>
            <a:off x="723151" y="1554125"/>
            <a:ext cx="8991601" cy="6093976"/>
          </a:xfrm>
          <a:prstGeom prst="rect">
            <a:avLst/>
          </a:prstGeom>
          <a:noFill/>
        </p:spPr>
        <p:txBody>
          <a:bodyPr wrap="square">
            <a:spAutoFit/>
          </a:bodyPr>
          <a:lstStyle/>
          <a:p>
            <a:r>
              <a:rPr lang="en-IN" b="1" dirty="0"/>
              <a:t>Patient</a:t>
            </a:r>
            <a:r>
              <a:rPr lang="en-IN" dirty="0"/>
              <a:t> — </a:t>
            </a:r>
            <a:r>
              <a:rPr lang="en-IN" dirty="0" err="1"/>
              <a:t>PatientID</a:t>
            </a:r>
            <a:r>
              <a:rPr lang="en-IN" dirty="0"/>
              <a:t> (PK), FirstName, LastName, DOB, Gender, Phone, Address, </a:t>
            </a:r>
            <a:r>
              <a:rPr lang="en-IN" dirty="0" err="1"/>
              <a:t>BloodGroup</a:t>
            </a:r>
            <a:endParaRPr lang="en-IN" dirty="0"/>
          </a:p>
          <a:p>
            <a:br>
              <a:rPr lang="en-IN" dirty="0"/>
            </a:br>
            <a:r>
              <a:rPr lang="en-IN" b="1" dirty="0"/>
              <a:t>Doctor</a:t>
            </a:r>
            <a:r>
              <a:rPr lang="en-IN" dirty="0"/>
              <a:t> — </a:t>
            </a:r>
            <a:r>
              <a:rPr lang="en-IN" dirty="0" err="1"/>
              <a:t>DoctorID</a:t>
            </a:r>
            <a:r>
              <a:rPr lang="en-IN" dirty="0"/>
              <a:t> (PK), </a:t>
            </a:r>
            <a:r>
              <a:rPr lang="en-IN" dirty="0" err="1"/>
              <a:t>DepartmentID</a:t>
            </a:r>
            <a:r>
              <a:rPr lang="en-IN" dirty="0"/>
              <a:t> (FK), FirstName, LastName, Specialization, Phone, Email</a:t>
            </a:r>
          </a:p>
          <a:p>
            <a:br>
              <a:rPr lang="en-IN" dirty="0"/>
            </a:br>
            <a:r>
              <a:rPr lang="en-IN" b="1" dirty="0"/>
              <a:t>Department</a:t>
            </a:r>
            <a:r>
              <a:rPr lang="en-IN" dirty="0"/>
              <a:t> — </a:t>
            </a:r>
            <a:r>
              <a:rPr lang="en-IN" dirty="0" err="1"/>
              <a:t>DepartmentID</a:t>
            </a:r>
            <a:r>
              <a:rPr lang="en-IN" dirty="0"/>
              <a:t> (PK), </a:t>
            </a:r>
            <a:r>
              <a:rPr lang="en-IN" dirty="0" err="1"/>
              <a:t>DeptName</a:t>
            </a:r>
            <a:r>
              <a:rPr lang="en-IN" dirty="0"/>
              <a:t>, Location, </a:t>
            </a:r>
            <a:r>
              <a:rPr lang="en-IN" dirty="0" err="1"/>
              <a:t>HeadDoctorID</a:t>
            </a:r>
            <a:r>
              <a:rPr lang="en-IN" dirty="0"/>
              <a:t> (FK)</a:t>
            </a:r>
          </a:p>
          <a:p>
            <a:br>
              <a:rPr lang="en-IN" dirty="0"/>
            </a:br>
            <a:r>
              <a:rPr lang="en-IN" b="1" dirty="0"/>
              <a:t>Appointment</a:t>
            </a:r>
            <a:r>
              <a:rPr lang="en-IN" dirty="0"/>
              <a:t> — </a:t>
            </a:r>
            <a:r>
              <a:rPr lang="en-IN" dirty="0" err="1"/>
              <a:t>AppointmentID</a:t>
            </a:r>
            <a:r>
              <a:rPr lang="en-IN" dirty="0"/>
              <a:t> (PK), </a:t>
            </a:r>
            <a:r>
              <a:rPr lang="en-IN" dirty="0" err="1"/>
              <a:t>PatientID</a:t>
            </a:r>
            <a:r>
              <a:rPr lang="en-IN" dirty="0"/>
              <a:t> (FK), </a:t>
            </a:r>
            <a:r>
              <a:rPr lang="en-IN" dirty="0" err="1"/>
              <a:t>DoctorID</a:t>
            </a:r>
            <a:r>
              <a:rPr lang="en-IN" dirty="0"/>
              <a:t> (FK), </a:t>
            </a:r>
            <a:r>
              <a:rPr lang="en-IN" dirty="0" err="1"/>
              <a:t>ApptDate</a:t>
            </a:r>
            <a:r>
              <a:rPr lang="en-IN" dirty="0"/>
              <a:t>, </a:t>
            </a:r>
            <a:r>
              <a:rPr lang="en-IN" dirty="0" err="1"/>
              <a:t>ApptTime</a:t>
            </a:r>
            <a:r>
              <a:rPr lang="en-IN" dirty="0"/>
              <a:t>, Status</a:t>
            </a:r>
          </a:p>
          <a:p>
            <a:br>
              <a:rPr lang="en-IN" dirty="0"/>
            </a:br>
            <a:r>
              <a:rPr lang="en-IN" b="1" dirty="0"/>
              <a:t>Medical Record </a:t>
            </a:r>
            <a:r>
              <a:rPr lang="en-IN" dirty="0"/>
              <a:t>— </a:t>
            </a:r>
            <a:r>
              <a:rPr lang="en-IN" dirty="0" err="1"/>
              <a:t>RecordID</a:t>
            </a:r>
            <a:r>
              <a:rPr lang="en-IN" dirty="0"/>
              <a:t> (PK), </a:t>
            </a:r>
            <a:r>
              <a:rPr lang="en-IN" dirty="0" err="1"/>
              <a:t>PatientID</a:t>
            </a:r>
            <a:r>
              <a:rPr lang="en-IN" dirty="0"/>
              <a:t> (FK), </a:t>
            </a:r>
            <a:r>
              <a:rPr lang="en-IN" dirty="0" err="1"/>
              <a:t>DoctorID</a:t>
            </a:r>
            <a:r>
              <a:rPr lang="en-IN" dirty="0"/>
              <a:t> (FK), Diagnosis, Treatment, </a:t>
            </a:r>
            <a:r>
              <a:rPr lang="en-IN" dirty="0" err="1"/>
              <a:t>RecordDate</a:t>
            </a:r>
            <a:endParaRPr lang="en-IN" dirty="0"/>
          </a:p>
          <a:p>
            <a:br>
              <a:rPr lang="en-IN" dirty="0"/>
            </a:br>
            <a:r>
              <a:rPr lang="en-IN" b="1" dirty="0"/>
              <a:t>Billing</a:t>
            </a:r>
            <a:r>
              <a:rPr lang="en-IN" dirty="0"/>
              <a:t> — </a:t>
            </a:r>
            <a:r>
              <a:rPr lang="en-IN" dirty="0" err="1"/>
              <a:t>BillID</a:t>
            </a:r>
            <a:r>
              <a:rPr lang="en-IN" dirty="0"/>
              <a:t> (PK), </a:t>
            </a:r>
            <a:r>
              <a:rPr lang="en-IN" dirty="0" err="1"/>
              <a:t>PatientID</a:t>
            </a:r>
            <a:r>
              <a:rPr lang="en-IN" dirty="0"/>
              <a:t> (FK), </a:t>
            </a:r>
            <a:r>
              <a:rPr lang="en-IN" dirty="0" err="1"/>
              <a:t>AppointmentID</a:t>
            </a:r>
            <a:r>
              <a:rPr lang="en-IN" dirty="0"/>
              <a:t> (FK), Amount, </a:t>
            </a:r>
            <a:r>
              <a:rPr lang="en-IN" dirty="0" err="1"/>
              <a:t>PaymentStatus</a:t>
            </a:r>
            <a:r>
              <a:rPr lang="en-IN" dirty="0"/>
              <a:t>, </a:t>
            </a:r>
            <a:r>
              <a:rPr lang="en-IN" dirty="0" err="1"/>
              <a:t>BillDate</a:t>
            </a:r>
            <a:endParaRPr lang="en-IN" dirty="0"/>
          </a:p>
          <a:p>
            <a:br>
              <a:rPr lang="en-IN" dirty="0"/>
            </a:br>
            <a:r>
              <a:rPr lang="en-IN" b="1" dirty="0"/>
              <a:t>Room</a:t>
            </a:r>
            <a:r>
              <a:rPr lang="en-IN" dirty="0"/>
              <a:t> — </a:t>
            </a:r>
            <a:r>
              <a:rPr lang="en-IN" dirty="0" err="1"/>
              <a:t>RoomID</a:t>
            </a:r>
            <a:r>
              <a:rPr lang="en-IN" dirty="0"/>
              <a:t> (PK), </a:t>
            </a:r>
            <a:r>
              <a:rPr lang="en-IN" dirty="0" err="1"/>
              <a:t>DepartmentID</a:t>
            </a:r>
            <a:r>
              <a:rPr lang="en-IN" dirty="0"/>
              <a:t> (FK), </a:t>
            </a:r>
            <a:r>
              <a:rPr lang="en-IN" dirty="0" err="1"/>
              <a:t>PatientID</a:t>
            </a:r>
            <a:r>
              <a:rPr lang="en-IN" dirty="0"/>
              <a:t> (FK), </a:t>
            </a:r>
            <a:r>
              <a:rPr lang="en-IN" dirty="0" err="1"/>
              <a:t>RoomType</a:t>
            </a:r>
            <a:r>
              <a:rPr lang="en-IN" dirty="0"/>
              <a:t>, Status</a:t>
            </a:r>
          </a:p>
          <a:p>
            <a:br>
              <a:rPr lang="en-IN" dirty="0"/>
            </a:br>
            <a:r>
              <a:rPr lang="en-IN" b="1" dirty="0"/>
              <a:t>Staff</a:t>
            </a:r>
            <a:r>
              <a:rPr lang="en-IN" dirty="0"/>
              <a:t> — </a:t>
            </a:r>
            <a:r>
              <a:rPr lang="en-IN" dirty="0" err="1"/>
              <a:t>StaffID</a:t>
            </a:r>
            <a:r>
              <a:rPr lang="en-IN" dirty="0"/>
              <a:t> (PK), </a:t>
            </a:r>
            <a:r>
              <a:rPr lang="en-IN" dirty="0" err="1"/>
              <a:t>DepartmentID</a:t>
            </a:r>
            <a:r>
              <a:rPr lang="en-IN" dirty="0"/>
              <a:t> (FK), Name, Role, Phone</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3178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D1103-BED3-D0D1-2B32-DF462A49AD98}"/>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386A48A0-7630-F33A-9602-55A8C30FABC0}"/>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4D87CA1E-4756-F08E-63BD-75124D6360A1}"/>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631FFF4E-3585-C131-4111-19552BFBD0ED}"/>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23462C3B-779A-ECC8-E6A0-EBE10897D9C8}"/>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1C485986-3706-6533-B03D-5A8A8566EDEA}"/>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C06018CA-58C0-7E2C-3046-85D5E75FDF5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48EE4812-0FE8-8F6E-37C0-C1D8649E38B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C996B418-1692-861F-B2FC-D97A6A0DCECA}"/>
              </a:ext>
            </a:extLst>
          </p:cNvPr>
          <p:cNvSpPr txBox="1"/>
          <p:nvPr/>
        </p:nvSpPr>
        <p:spPr>
          <a:xfrm>
            <a:off x="3429000" y="321324"/>
            <a:ext cx="50292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PRIMARY</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&amp;</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FOREIGN</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KEYS</a:t>
            </a:r>
          </a:p>
        </p:txBody>
      </p:sp>
      <p:sp>
        <p:nvSpPr>
          <p:cNvPr id="9" name="TextBox 8">
            <a:extLst>
              <a:ext uri="{FF2B5EF4-FFF2-40B4-BE49-F238E27FC236}">
                <a16:creationId xmlns:a16="http://schemas.microsoft.com/office/drawing/2014/main" id="{A56E2F94-6AD4-B724-E3FB-997227B0055D}"/>
              </a:ext>
            </a:extLst>
          </p:cNvPr>
          <p:cNvSpPr txBox="1"/>
          <p:nvPr/>
        </p:nvSpPr>
        <p:spPr>
          <a:xfrm>
            <a:off x="2514600" y="3704102"/>
            <a:ext cx="5029200"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 </a:t>
            </a:r>
          </a:p>
        </p:txBody>
      </p:sp>
      <p:pic>
        <p:nvPicPr>
          <p:cNvPr id="11" name="Picture 10">
            <a:extLst>
              <a:ext uri="{FF2B5EF4-FFF2-40B4-BE49-F238E27FC236}">
                <a16:creationId xmlns:a16="http://schemas.microsoft.com/office/drawing/2014/main" id="{159D47C6-79A1-8133-B22B-DE3116414B05}"/>
              </a:ext>
            </a:extLst>
          </p:cNvPr>
          <p:cNvPicPr>
            <a:picLocks noChangeAspect="1"/>
          </p:cNvPicPr>
          <p:nvPr/>
        </p:nvPicPr>
        <p:blipFill>
          <a:blip r:embed="rId6"/>
          <a:stretch>
            <a:fillRect/>
          </a:stretch>
        </p:blipFill>
        <p:spPr>
          <a:xfrm>
            <a:off x="17986" y="1519636"/>
            <a:ext cx="10013186" cy="4728764"/>
          </a:xfrm>
          <a:prstGeom prst="rect">
            <a:avLst/>
          </a:prstGeom>
        </p:spPr>
      </p:pic>
    </p:spTree>
    <p:extLst>
      <p:ext uri="{BB962C8B-B14F-4D97-AF65-F5344CB8AC3E}">
        <p14:creationId xmlns:p14="http://schemas.microsoft.com/office/powerpoint/2010/main" val="1510185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GITHUB REPOSITORY &amp; TEAM</a:t>
            </a:r>
          </a:p>
        </p:txBody>
      </p:sp>
      <p:sp>
        <p:nvSpPr>
          <p:cNvPr id="9" name="TextBox 8">
            <a:extLst>
              <a:ext uri="{FF2B5EF4-FFF2-40B4-BE49-F238E27FC236}">
                <a16:creationId xmlns:a16="http://schemas.microsoft.com/office/drawing/2014/main" id="{7A800D15-2389-5516-DA9E-AC441973A9C8}"/>
              </a:ext>
            </a:extLst>
          </p:cNvPr>
          <p:cNvSpPr txBox="1"/>
          <p:nvPr/>
        </p:nvSpPr>
        <p:spPr>
          <a:xfrm>
            <a:off x="1749471" y="2362200"/>
            <a:ext cx="6781800"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 </a:t>
            </a:r>
          </a:p>
        </p:txBody>
      </p:sp>
      <p:graphicFrame>
        <p:nvGraphicFramePr>
          <p:cNvPr id="11" name="Table 10">
            <a:extLst>
              <a:ext uri="{FF2B5EF4-FFF2-40B4-BE49-F238E27FC236}">
                <a16:creationId xmlns:a16="http://schemas.microsoft.com/office/drawing/2014/main" id="{5B77E819-11DC-A4F7-7D91-48AB84CC9EEC}"/>
              </a:ext>
            </a:extLst>
          </p:cNvPr>
          <p:cNvGraphicFramePr>
            <a:graphicFrameLocks noGrp="1"/>
          </p:cNvGraphicFramePr>
          <p:nvPr>
            <p:extLst>
              <p:ext uri="{D42A27DB-BD31-4B8C-83A1-F6EECF244321}">
                <p14:modId xmlns:p14="http://schemas.microsoft.com/office/powerpoint/2010/main" val="657676634"/>
              </p:ext>
            </p:extLst>
          </p:nvPr>
        </p:nvGraphicFramePr>
        <p:xfrm>
          <a:off x="609600" y="2667000"/>
          <a:ext cx="8991600" cy="4648199"/>
        </p:xfrm>
        <a:graphic>
          <a:graphicData uri="http://schemas.openxmlformats.org/drawingml/2006/table">
            <a:tbl>
              <a:tblPr>
                <a:tableStyleId>{5C22544A-7EE6-4342-B048-85BDC9FD1C3A}</a:tableStyleId>
              </a:tblPr>
              <a:tblGrid>
                <a:gridCol w="3082835">
                  <a:extLst>
                    <a:ext uri="{9D8B030D-6E8A-4147-A177-3AD203B41FA5}">
                      <a16:colId xmlns:a16="http://schemas.microsoft.com/office/drawing/2014/main" val="2878589639"/>
                    </a:ext>
                  </a:extLst>
                </a:gridCol>
                <a:gridCol w="2312125">
                  <a:extLst>
                    <a:ext uri="{9D8B030D-6E8A-4147-A177-3AD203B41FA5}">
                      <a16:colId xmlns:a16="http://schemas.microsoft.com/office/drawing/2014/main" val="3193917672"/>
                    </a:ext>
                  </a:extLst>
                </a:gridCol>
                <a:gridCol w="3596640">
                  <a:extLst>
                    <a:ext uri="{9D8B030D-6E8A-4147-A177-3AD203B41FA5}">
                      <a16:colId xmlns:a16="http://schemas.microsoft.com/office/drawing/2014/main" val="1634886205"/>
                    </a:ext>
                  </a:extLst>
                </a:gridCol>
              </a:tblGrid>
              <a:tr h="380999">
                <a:tc>
                  <a:txBody>
                    <a:bodyPr/>
                    <a:lstStyle/>
                    <a:p>
                      <a:pPr algn="ctr">
                        <a:buNone/>
                      </a:pPr>
                      <a:r>
                        <a:rPr lang="en-IN" sz="1000" dirty="0">
                          <a:effectLst/>
                        </a:rPr>
                        <a:t>Student Name</a:t>
                      </a:r>
                      <a:endParaRPr lang="en-IN" sz="1000" dirty="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lgn="ctr">
                        <a:buNone/>
                      </a:pPr>
                      <a:r>
                        <a:rPr lang="en-IN" sz="1000">
                          <a:effectLst/>
                        </a:rPr>
                        <a:t>Roll Number</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lgn="ctr">
                        <a:buNone/>
                      </a:pPr>
                      <a:r>
                        <a:rPr lang="en-IN" sz="1000" dirty="0">
                          <a:effectLst/>
                        </a:rPr>
                        <a:t>Role / Responsibility</a:t>
                      </a:r>
                      <a:endParaRPr lang="en-IN" sz="1000" dirty="0">
                        <a:effectLst/>
                        <a:latin typeface="Times New Roman" panose="02020603050405020304" pitchFamily="18" charset="0"/>
                        <a:ea typeface="Times New Roman" panose="02020603050405020304" pitchFamily="18" charset="0"/>
                      </a:endParaRPr>
                    </a:p>
                  </a:txBody>
                  <a:tcPr marL="63500" marR="63500" marT="50800" marB="50800" anchor="ctr"/>
                </a:tc>
                <a:extLst>
                  <a:ext uri="{0D108BD9-81ED-4DB2-BD59-A6C34878D82A}">
                    <a16:rowId xmlns:a16="http://schemas.microsoft.com/office/drawing/2014/main" val="2534780581"/>
                  </a:ext>
                </a:extLst>
              </a:tr>
              <a:tr h="1066800">
                <a:tc>
                  <a:txBody>
                    <a:bodyPr/>
                    <a:lstStyle/>
                    <a:p>
                      <a:pPr>
                        <a:buNone/>
                      </a:pPr>
                      <a:r>
                        <a:rPr lang="en-IN" sz="1000" dirty="0">
                          <a:effectLst/>
                        </a:rPr>
                        <a:t>K. </a:t>
                      </a:r>
                      <a:r>
                        <a:rPr lang="en-IN" sz="1000" dirty="0" err="1">
                          <a:effectLst/>
                        </a:rPr>
                        <a:t>Jishmitha</a:t>
                      </a:r>
                      <a:endParaRPr lang="en-IN" sz="1000" dirty="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00">
                          <a:effectLst/>
                        </a:rPr>
                        <a:t>25B11AI467</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00">
                          <a:effectLst/>
                        </a:rPr>
                        <a:t> Designed the database structure and created the ER diagram. Worked on creating and organizing the main database tables.</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extLst>
                  <a:ext uri="{0D108BD9-81ED-4DB2-BD59-A6C34878D82A}">
                    <a16:rowId xmlns:a16="http://schemas.microsoft.com/office/drawing/2014/main" val="3418960026"/>
                  </a:ext>
                </a:extLst>
              </a:tr>
              <a:tr h="1066800">
                <a:tc>
                  <a:txBody>
                    <a:bodyPr/>
                    <a:lstStyle/>
                    <a:p>
                      <a:pPr>
                        <a:buNone/>
                      </a:pPr>
                      <a:r>
                        <a:rPr lang="en-IN" sz="1000">
                          <a:effectLst/>
                        </a:rPr>
                        <a:t>P. Ramya Sri</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00">
                          <a:effectLst/>
                        </a:rPr>
                        <a:t>25B11AI878</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00" dirty="0">
                          <a:effectLst/>
                        </a:rPr>
                        <a:t> Developed and tested SQL queries using joins, aggregate functions, GROUP BY, and other SQL operations. Worked on the Billing and Prescription modules</a:t>
                      </a:r>
                      <a:endParaRPr lang="en-IN" sz="1000" dirty="0">
                        <a:effectLst/>
                        <a:latin typeface="Times New Roman" panose="02020603050405020304" pitchFamily="18" charset="0"/>
                        <a:ea typeface="Times New Roman" panose="02020603050405020304" pitchFamily="18" charset="0"/>
                      </a:endParaRPr>
                    </a:p>
                  </a:txBody>
                  <a:tcPr marL="63500" marR="63500" marT="50800" marB="50800" anchor="ctr"/>
                </a:tc>
                <a:extLst>
                  <a:ext uri="{0D108BD9-81ED-4DB2-BD59-A6C34878D82A}">
                    <a16:rowId xmlns:a16="http://schemas.microsoft.com/office/drawing/2014/main" val="1841373304"/>
                  </a:ext>
                </a:extLst>
              </a:tr>
              <a:tr h="1066800">
                <a:tc>
                  <a:txBody>
                    <a:bodyPr/>
                    <a:lstStyle/>
                    <a:p>
                      <a:pPr>
                        <a:buNone/>
                      </a:pPr>
                      <a:r>
                        <a:rPr lang="en-IN" sz="1000">
                          <a:effectLst/>
                        </a:rPr>
                        <a:t>K. Sirisha</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00">
                          <a:effectLst/>
                        </a:rPr>
                        <a:t>25B11AIB40</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00">
                          <a:effectLst/>
                        </a:rPr>
                        <a:t> Prepared the project documentation and organized the required project details. Created and verified sample data and reports for the database tables.</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extLst>
                  <a:ext uri="{0D108BD9-81ED-4DB2-BD59-A6C34878D82A}">
                    <a16:rowId xmlns:a16="http://schemas.microsoft.com/office/drawing/2014/main" val="1182000510"/>
                  </a:ext>
                </a:extLst>
              </a:tr>
              <a:tr h="1066800">
                <a:tc>
                  <a:txBody>
                    <a:bodyPr/>
                    <a:lstStyle/>
                    <a:p>
                      <a:pPr>
                        <a:buNone/>
                      </a:pPr>
                      <a:r>
                        <a:rPr lang="en-IN" sz="1000">
                          <a:effectLst/>
                        </a:rPr>
                        <a:t>U. Sowjanya</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00">
                          <a:effectLst/>
                        </a:rPr>
                        <a:t>25B11AIC19</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00" dirty="0">
                          <a:effectLst/>
                        </a:rPr>
                        <a:t> Worked on the application interface and navigation. Helped integrate the database with the application and tested the system functionality.</a:t>
                      </a:r>
                      <a:endParaRPr lang="en-IN" sz="1000" dirty="0">
                        <a:effectLst/>
                        <a:latin typeface="Times New Roman" panose="02020603050405020304" pitchFamily="18" charset="0"/>
                        <a:ea typeface="Times New Roman" panose="02020603050405020304" pitchFamily="18" charset="0"/>
                      </a:endParaRPr>
                    </a:p>
                  </a:txBody>
                  <a:tcPr marL="63500" marR="63500" marT="50800" marB="50800" anchor="ctr"/>
                </a:tc>
                <a:extLst>
                  <a:ext uri="{0D108BD9-81ED-4DB2-BD59-A6C34878D82A}">
                    <a16:rowId xmlns:a16="http://schemas.microsoft.com/office/drawing/2014/main" val="1675373269"/>
                  </a:ext>
                </a:extLst>
              </a:tr>
            </a:tbl>
          </a:graphicData>
        </a:graphic>
      </p:graphicFrame>
      <p:sp>
        <p:nvSpPr>
          <p:cNvPr id="10" name="TextBox 9">
            <a:extLst>
              <a:ext uri="{FF2B5EF4-FFF2-40B4-BE49-F238E27FC236}">
                <a16:creationId xmlns:a16="http://schemas.microsoft.com/office/drawing/2014/main" id="{ACA76788-ADA8-2460-D8CC-482200CD066D}"/>
              </a:ext>
            </a:extLst>
          </p:cNvPr>
          <p:cNvSpPr txBox="1"/>
          <p:nvPr/>
        </p:nvSpPr>
        <p:spPr>
          <a:xfrm>
            <a:off x="828675" y="1133475"/>
            <a:ext cx="6968574" cy="1754326"/>
          </a:xfrm>
          <a:prstGeom prst="rect">
            <a:avLst/>
          </a:prstGeom>
          <a:noFill/>
        </p:spPr>
        <p:txBody>
          <a:bodyPr wrap="none" rtlCol="0">
            <a:spAutoFit/>
          </a:bodyPr>
          <a:lstStyle/>
          <a:p>
            <a:r>
              <a:rPr lang="en-US" dirty="0"/>
              <a:t>Repository link:  </a:t>
            </a:r>
            <a:endParaRPr lang="en-IN" sz="1800" u="sng" dirty="0"/>
          </a:p>
          <a:p>
            <a:r>
              <a:rPr lang="en-IN" sz="1800" u="sng" dirty="0">
                <a:hlinkClick r:id="rId6"/>
              </a:rPr>
              <a:t>https://github.com/jishmitha31-hash/hospital-management-system</a:t>
            </a:r>
            <a:r>
              <a:rPr lang="en-IN" sz="1800" dirty="0"/>
              <a:t>.</a:t>
            </a:r>
          </a:p>
          <a:p>
            <a:r>
              <a:rPr lang="en-IN" sz="1800" u="sng" dirty="0">
                <a:hlinkClick r:id="rId7"/>
              </a:rPr>
              <a:t>https://github.com/ramyasripalati/Hospital-Management-System</a:t>
            </a:r>
            <a:endParaRPr lang="en-IN" sz="1800" dirty="0"/>
          </a:p>
          <a:p>
            <a:r>
              <a:rPr lang="en-IN" sz="1800" u="sng" dirty="0">
                <a:hlinkClick r:id="rId8"/>
              </a:rPr>
              <a:t>https://github.com/Sirisha-kunduri/Hospital-Management-System-</a:t>
            </a:r>
            <a:r>
              <a:rPr lang="en-IN" sz="1800" dirty="0"/>
              <a:t> </a:t>
            </a:r>
          </a:p>
          <a:p>
            <a:r>
              <a:rPr lang="en-IN" sz="1800" u="sng" dirty="0">
                <a:hlinkClick r:id="rId9"/>
              </a:rPr>
              <a:t>https://github.com/udathasowjanya/Hospital-management-system</a:t>
            </a:r>
            <a:endParaRPr lang="en-IN" sz="1800" dirty="0"/>
          </a:p>
          <a:p>
            <a:endParaRPr lang="en-IN" dirty="0"/>
          </a:p>
        </p:txBody>
      </p:sp>
    </p:spTree>
    <p:extLst>
      <p:ext uri="{BB962C8B-B14F-4D97-AF65-F5344CB8AC3E}">
        <p14:creationId xmlns:p14="http://schemas.microsoft.com/office/powerpoint/2010/main" val="26077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DATABASE &amp; CONSTRAINTS</a:t>
            </a:r>
          </a:p>
        </p:txBody>
      </p:sp>
      <p:sp>
        <p:nvSpPr>
          <p:cNvPr id="9" name="TextBox 8">
            <a:extLst>
              <a:ext uri="{FF2B5EF4-FFF2-40B4-BE49-F238E27FC236}">
                <a16:creationId xmlns:a16="http://schemas.microsoft.com/office/drawing/2014/main" id="{7A800D15-2389-5516-DA9E-AC441973A9C8}"/>
              </a:ext>
            </a:extLst>
          </p:cNvPr>
          <p:cNvSpPr txBox="1"/>
          <p:nvPr/>
        </p:nvSpPr>
        <p:spPr>
          <a:xfrm>
            <a:off x="1749471" y="2362200"/>
            <a:ext cx="6781800"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25CB465F-5E92-A08E-54B7-B42307C8A742}"/>
              </a:ext>
            </a:extLst>
          </p:cNvPr>
          <p:cNvSpPr txBox="1"/>
          <p:nvPr/>
        </p:nvSpPr>
        <p:spPr>
          <a:xfrm>
            <a:off x="1057275" y="1238250"/>
            <a:ext cx="5032147" cy="6463308"/>
          </a:xfrm>
          <a:prstGeom prst="rect">
            <a:avLst/>
          </a:prstGeom>
          <a:noFill/>
        </p:spPr>
        <p:txBody>
          <a:bodyPr wrap="none" rtlCol="0">
            <a:spAutoFit/>
          </a:bodyPr>
          <a:lstStyle/>
          <a:p>
            <a:r>
              <a:rPr lang="en-IN" sz="1800" dirty="0"/>
              <a:t>CREATE TABLE Patient (</a:t>
            </a:r>
          </a:p>
          <a:p>
            <a:r>
              <a:rPr lang="en-IN" sz="1800" dirty="0"/>
              <a:t>    </a:t>
            </a:r>
            <a:r>
              <a:rPr lang="en-IN" sz="1800" dirty="0" err="1"/>
              <a:t>PatientID</a:t>
            </a:r>
            <a:r>
              <a:rPr lang="en-IN" sz="1800" dirty="0"/>
              <a:t> INT PRIMARY KEY,</a:t>
            </a:r>
          </a:p>
          <a:p>
            <a:r>
              <a:rPr lang="en-IN" sz="1800" dirty="0"/>
              <a:t>    FirstName VARCHAR(50) NOT NULL,</a:t>
            </a:r>
          </a:p>
          <a:p>
            <a:r>
              <a:rPr lang="en-IN" sz="1800" dirty="0"/>
              <a:t>    LastName VARCHAR(50) NOT NULL,</a:t>
            </a:r>
          </a:p>
          <a:p>
            <a:r>
              <a:rPr lang="en-IN" sz="1800" dirty="0"/>
              <a:t>    Phone VARCHAR(15),</a:t>
            </a:r>
          </a:p>
          <a:p>
            <a:r>
              <a:rPr lang="en-IN" sz="1800" dirty="0"/>
              <a:t>    </a:t>
            </a:r>
            <a:r>
              <a:rPr lang="en-IN" sz="1800" dirty="0" err="1"/>
              <a:t>BloodGroup</a:t>
            </a:r>
            <a:r>
              <a:rPr lang="en-IN" sz="1800" dirty="0"/>
              <a:t> VARCHAR(5)</a:t>
            </a:r>
          </a:p>
          <a:p>
            <a:r>
              <a:rPr lang="en-IN" sz="1800" dirty="0"/>
              <a:t>);</a:t>
            </a:r>
          </a:p>
          <a:p>
            <a:r>
              <a:rPr lang="en-IN" sz="1800" dirty="0"/>
              <a:t> </a:t>
            </a:r>
          </a:p>
          <a:p>
            <a:r>
              <a:rPr lang="en-IN" sz="1800" dirty="0"/>
              <a:t>CREATE TABLE Department (</a:t>
            </a:r>
          </a:p>
          <a:p>
            <a:r>
              <a:rPr lang="en-IN" sz="1800" dirty="0"/>
              <a:t>    </a:t>
            </a:r>
            <a:r>
              <a:rPr lang="en-IN" sz="1800" dirty="0" err="1"/>
              <a:t>DepartmentID</a:t>
            </a:r>
            <a:r>
              <a:rPr lang="en-IN" sz="1800" dirty="0"/>
              <a:t> INT PRIMARY KEY,</a:t>
            </a:r>
          </a:p>
          <a:p>
            <a:r>
              <a:rPr lang="en-IN" sz="1800" dirty="0"/>
              <a:t>    </a:t>
            </a:r>
            <a:r>
              <a:rPr lang="en-IN" sz="1800" dirty="0" err="1"/>
              <a:t>DeptName</a:t>
            </a:r>
            <a:r>
              <a:rPr lang="en-IN" sz="1800" dirty="0"/>
              <a:t> VARCHAR(50) NOT NULL,</a:t>
            </a:r>
          </a:p>
          <a:p>
            <a:r>
              <a:rPr lang="en-IN" sz="1800" dirty="0"/>
              <a:t>    Location VARCHAR(100)</a:t>
            </a:r>
          </a:p>
          <a:p>
            <a:r>
              <a:rPr lang="en-IN" sz="1800" dirty="0"/>
              <a:t>);</a:t>
            </a:r>
          </a:p>
          <a:p>
            <a:r>
              <a:rPr lang="en-IN" sz="1800" dirty="0"/>
              <a:t> </a:t>
            </a:r>
          </a:p>
          <a:p>
            <a:r>
              <a:rPr lang="en-IN" sz="1800" dirty="0"/>
              <a:t>CREATE TABLE Doctor (</a:t>
            </a:r>
          </a:p>
          <a:p>
            <a:r>
              <a:rPr lang="en-IN" sz="1800" dirty="0"/>
              <a:t>    </a:t>
            </a:r>
            <a:r>
              <a:rPr lang="en-IN" sz="1800" dirty="0" err="1"/>
              <a:t>DoctorID</a:t>
            </a:r>
            <a:r>
              <a:rPr lang="en-IN" sz="1800" dirty="0"/>
              <a:t> INT PRIMARY KEY,</a:t>
            </a:r>
          </a:p>
          <a:p>
            <a:r>
              <a:rPr lang="en-IN" sz="1800" dirty="0"/>
              <a:t>    FirstName VARCHAR(50) NOT NULL,</a:t>
            </a:r>
          </a:p>
          <a:p>
            <a:r>
              <a:rPr lang="en-IN" sz="1800" dirty="0"/>
              <a:t>    Specialization VARCHAR(100),</a:t>
            </a:r>
          </a:p>
          <a:p>
            <a:r>
              <a:rPr lang="en-IN" sz="1800" dirty="0"/>
              <a:t>    </a:t>
            </a:r>
            <a:r>
              <a:rPr lang="en-IN" sz="1800" dirty="0" err="1"/>
              <a:t>DepartmentID</a:t>
            </a:r>
            <a:r>
              <a:rPr lang="en-IN" sz="1800" dirty="0"/>
              <a:t> INT,</a:t>
            </a:r>
          </a:p>
          <a:p>
            <a:r>
              <a:rPr lang="en-IN" sz="1800" dirty="0"/>
              <a:t>    FOREIGN KEY (</a:t>
            </a:r>
            <a:r>
              <a:rPr lang="en-IN" sz="1800" dirty="0" err="1"/>
              <a:t>DepartmentID</a:t>
            </a:r>
            <a:r>
              <a:rPr lang="en-IN" sz="1800" dirty="0"/>
              <a:t>)</a:t>
            </a:r>
          </a:p>
          <a:p>
            <a:r>
              <a:rPr lang="en-IN" sz="1800" dirty="0"/>
              <a:t>    REFERENCES Department(</a:t>
            </a:r>
            <a:r>
              <a:rPr lang="en-IN" sz="1800" dirty="0" err="1"/>
              <a:t>DepartmentID</a:t>
            </a:r>
            <a:r>
              <a:rPr lang="en-IN" sz="1800" dirty="0"/>
              <a:t>)</a:t>
            </a:r>
          </a:p>
          <a:p>
            <a:r>
              <a:rPr lang="en-IN" sz="1800" dirty="0"/>
              <a:t>);</a:t>
            </a:r>
          </a:p>
          <a:p>
            <a:endParaRPr lang="en-IN" dirty="0"/>
          </a:p>
        </p:txBody>
      </p:sp>
    </p:spTree>
    <p:extLst>
      <p:ext uri="{BB962C8B-B14F-4D97-AF65-F5344CB8AC3E}">
        <p14:creationId xmlns:p14="http://schemas.microsoft.com/office/powerpoint/2010/main" val="26077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DF061-77DB-96A7-0DC5-7552BB01913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BE5F0F0-4944-8C8B-96E9-185C61D8AAC1}"/>
              </a:ext>
            </a:extLst>
          </p:cNvPr>
          <p:cNvSpPr>
            <a:spLocks noGrp="1"/>
          </p:cNvSpPr>
          <p:nvPr>
            <p:ph type="body" idx="1"/>
          </p:nvPr>
        </p:nvSpPr>
        <p:spPr>
          <a:xfrm>
            <a:off x="533400" y="228600"/>
            <a:ext cx="8970327" cy="7225055"/>
          </a:xfrm>
        </p:spPr>
        <p:txBody>
          <a:bodyPr/>
          <a:lstStyle/>
          <a:p>
            <a:r>
              <a:rPr lang="en-IN" sz="1800" b="0" dirty="0"/>
              <a:t>CREATE TABLE Appointment (</a:t>
            </a:r>
          </a:p>
          <a:p>
            <a:r>
              <a:rPr lang="en-IN" sz="1800" b="0" dirty="0"/>
              <a:t>    </a:t>
            </a:r>
            <a:r>
              <a:rPr lang="en-IN" sz="1800" b="0" dirty="0" err="1"/>
              <a:t>AppointmentID</a:t>
            </a:r>
            <a:r>
              <a:rPr lang="en-IN" sz="1800" b="0" dirty="0"/>
              <a:t> INT PRIMARY KEY,</a:t>
            </a:r>
          </a:p>
          <a:p>
            <a:r>
              <a:rPr lang="en-IN" sz="1800" b="0" dirty="0"/>
              <a:t>    </a:t>
            </a:r>
            <a:r>
              <a:rPr lang="en-IN" sz="1800" b="0" dirty="0" err="1"/>
              <a:t>PatientID</a:t>
            </a:r>
            <a:r>
              <a:rPr lang="en-IN" sz="1800" b="0" dirty="0"/>
              <a:t> INT,</a:t>
            </a:r>
          </a:p>
          <a:p>
            <a:r>
              <a:rPr lang="en-IN" sz="1800" b="0" dirty="0"/>
              <a:t>    </a:t>
            </a:r>
            <a:r>
              <a:rPr lang="en-IN" sz="1800" b="0" dirty="0" err="1"/>
              <a:t>DoctorID</a:t>
            </a:r>
            <a:r>
              <a:rPr lang="en-IN" sz="1800" b="0" dirty="0"/>
              <a:t> INT,</a:t>
            </a:r>
          </a:p>
          <a:p>
            <a:r>
              <a:rPr lang="en-IN" sz="1800" b="0" dirty="0"/>
              <a:t>    </a:t>
            </a:r>
            <a:r>
              <a:rPr lang="en-IN" sz="1800" b="0" dirty="0" err="1"/>
              <a:t>ApptDate</a:t>
            </a:r>
            <a:r>
              <a:rPr lang="en-IN" sz="1800" b="0" dirty="0"/>
              <a:t> DATE,</a:t>
            </a:r>
          </a:p>
          <a:p>
            <a:r>
              <a:rPr lang="en-IN" sz="1800" b="0" dirty="0"/>
              <a:t>    Status VARCHAR(30) DEFAULT 'Scheduled',</a:t>
            </a:r>
          </a:p>
          <a:p>
            <a:r>
              <a:rPr lang="en-IN" sz="1800" b="0" dirty="0"/>
              <a:t>    FOREIGN KEY (</a:t>
            </a:r>
            <a:r>
              <a:rPr lang="en-IN" sz="1800" b="0" dirty="0" err="1"/>
              <a:t>PatientID</a:t>
            </a:r>
            <a:r>
              <a:rPr lang="en-IN" sz="1800" b="0" dirty="0"/>
              <a:t>) REFERENCES Patient(</a:t>
            </a:r>
            <a:r>
              <a:rPr lang="en-IN" sz="1800" b="0" dirty="0" err="1"/>
              <a:t>PatientID</a:t>
            </a:r>
            <a:r>
              <a:rPr lang="en-IN" sz="1800" b="0" dirty="0"/>
              <a:t>),</a:t>
            </a:r>
          </a:p>
          <a:p>
            <a:r>
              <a:rPr lang="en-IN" sz="1800" b="0" dirty="0"/>
              <a:t>    FOREIGN KEY (</a:t>
            </a:r>
            <a:r>
              <a:rPr lang="en-IN" sz="1800" b="0" dirty="0" err="1"/>
              <a:t>DoctorID</a:t>
            </a:r>
            <a:r>
              <a:rPr lang="en-IN" sz="1800" b="0" dirty="0"/>
              <a:t>) REFERENCES Doctor(</a:t>
            </a:r>
            <a:r>
              <a:rPr lang="en-IN" sz="1800" b="0" dirty="0" err="1"/>
              <a:t>DoctorID</a:t>
            </a:r>
            <a:r>
              <a:rPr lang="en-IN" sz="1800" b="0" dirty="0"/>
              <a:t>)</a:t>
            </a:r>
          </a:p>
          <a:p>
            <a:r>
              <a:rPr lang="en-IN" sz="1800" b="0" dirty="0"/>
              <a:t>);</a:t>
            </a:r>
          </a:p>
          <a:p>
            <a:endParaRPr lang="en-IN" sz="1800" b="0" dirty="0"/>
          </a:p>
          <a:p>
            <a:r>
              <a:rPr lang="en-IN" sz="1800" b="0" dirty="0"/>
              <a:t>CREATE TABLE </a:t>
            </a:r>
            <a:r>
              <a:rPr lang="en-IN" sz="1800" b="0" dirty="0" err="1"/>
              <a:t>MedicalRecord</a:t>
            </a:r>
            <a:r>
              <a:rPr lang="en-IN" sz="1800" b="0" dirty="0"/>
              <a:t> (</a:t>
            </a:r>
          </a:p>
          <a:p>
            <a:r>
              <a:rPr lang="en-IN" sz="1800" b="0" dirty="0"/>
              <a:t>    </a:t>
            </a:r>
            <a:r>
              <a:rPr lang="en-IN" sz="1800" b="0" dirty="0" err="1"/>
              <a:t>RecordID</a:t>
            </a:r>
            <a:r>
              <a:rPr lang="en-IN" sz="1800" b="0" dirty="0"/>
              <a:t> INT PRIMARY KEY,</a:t>
            </a:r>
          </a:p>
          <a:p>
            <a:r>
              <a:rPr lang="en-IN" sz="1800" b="0" dirty="0"/>
              <a:t>    </a:t>
            </a:r>
            <a:r>
              <a:rPr lang="en-IN" sz="1800" b="0" dirty="0" err="1"/>
              <a:t>PatientID</a:t>
            </a:r>
            <a:r>
              <a:rPr lang="en-IN" sz="1800" b="0" dirty="0"/>
              <a:t> INT,</a:t>
            </a:r>
          </a:p>
          <a:p>
            <a:r>
              <a:rPr lang="en-IN" sz="1800" b="0" dirty="0"/>
              <a:t>    Diagnosis VARCHAR(200),</a:t>
            </a:r>
          </a:p>
          <a:p>
            <a:r>
              <a:rPr lang="en-IN" sz="1800" b="0" dirty="0"/>
              <a:t>    Treatment VARCHAR(200),</a:t>
            </a:r>
          </a:p>
          <a:p>
            <a:r>
              <a:rPr lang="en-IN" sz="1800" b="0" dirty="0"/>
              <a:t>    FOREIGN KEY (</a:t>
            </a:r>
            <a:r>
              <a:rPr lang="en-IN" sz="1800" b="0" dirty="0" err="1"/>
              <a:t>PatientID</a:t>
            </a:r>
            <a:r>
              <a:rPr lang="en-IN" sz="1800" b="0" dirty="0"/>
              <a:t>) REFERENCES Patient(</a:t>
            </a:r>
            <a:r>
              <a:rPr lang="en-IN" sz="1800" b="0" dirty="0" err="1"/>
              <a:t>PatientID</a:t>
            </a:r>
            <a:r>
              <a:rPr lang="en-IN" sz="1800" b="0" dirty="0"/>
              <a:t>)</a:t>
            </a:r>
          </a:p>
          <a:p>
            <a:r>
              <a:rPr lang="en-IN" sz="1800" b="0" dirty="0"/>
              <a:t>);</a:t>
            </a:r>
          </a:p>
          <a:p>
            <a:endParaRPr lang="en-IN" sz="1800" b="0" dirty="0"/>
          </a:p>
          <a:p>
            <a:r>
              <a:rPr lang="en-IN" sz="1800" b="0" dirty="0"/>
              <a:t>CREATE TABLE Billing (</a:t>
            </a:r>
          </a:p>
          <a:p>
            <a:r>
              <a:rPr lang="en-IN" sz="1800" b="0" dirty="0"/>
              <a:t>    </a:t>
            </a:r>
            <a:r>
              <a:rPr lang="en-IN" sz="1800" b="0" dirty="0" err="1"/>
              <a:t>BillID</a:t>
            </a:r>
            <a:r>
              <a:rPr lang="en-IN" sz="1800" b="0" dirty="0"/>
              <a:t> INT PRIMARY KEY,</a:t>
            </a:r>
          </a:p>
          <a:p>
            <a:r>
              <a:rPr lang="en-IN" sz="1800" b="0" dirty="0"/>
              <a:t>    </a:t>
            </a:r>
            <a:r>
              <a:rPr lang="en-IN" sz="1800" b="0" dirty="0" err="1"/>
              <a:t>PatientID</a:t>
            </a:r>
            <a:r>
              <a:rPr lang="en-IN" sz="1800" b="0" dirty="0"/>
              <a:t> INT,</a:t>
            </a:r>
          </a:p>
          <a:p>
            <a:r>
              <a:rPr lang="en-IN" sz="1800" b="0" dirty="0"/>
              <a:t>    Amount DECIMAL(10,2),</a:t>
            </a:r>
          </a:p>
          <a:p>
            <a:r>
              <a:rPr lang="en-IN" sz="1800" b="0" dirty="0"/>
              <a:t>    </a:t>
            </a:r>
            <a:r>
              <a:rPr lang="en-IN" sz="1800" b="0" dirty="0" err="1"/>
              <a:t>PaymentStatus</a:t>
            </a:r>
            <a:r>
              <a:rPr lang="en-IN" sz="1800" b="0" dirty="0"/>
              <a:t> VARCHAR(30) DEFAULT 'Pending',</a:t>
            </a:r>
          </a:p>
          <a:p>
            <a:r>
              <a:rPr lang="en-IN" sz="1800" b="0" dirty="0"/>
              <a:t>    FOREIGN KEY (</a:t>
            </a:r>
            <a:r>
              <a:rPr lang="en-IN" sz="1800" b="0" dirty="0" err="1"/>
              <a:t>PatientID</a:t>
            </a:r>
            <a:r>
              <a:rPr lang="en-IN" sz="1800" b="0" dirty="0"/>
              <a:t>) REFERENCES Patient(</a:t>
            </a:r>
            <a:r>
              <a:rPr lang="en-IN" sz="1800" b="0" dirty="0" err="1"/>
              <a:t>PatientID</a:t>
            </a:r>
            <a:r>
              <a:rPr lang="en-IN" sz="1800" b="0" dirty="0"/>
              <a:t>)</a:t>
            </a:r>
          </a:p>
          <a:p>
            <a:r>
              <a:rPr lang="en-IN" sz="1800" b="0" dirty="0"/>
              <a:t>);</a:t>
            </a:r>
          </a:p>
          <a:p>
            <a:endParaRPr lang="en-IN" dirty="0"/>
          </a:p>
        </p:txBody>
      </p:sp>
    </p:spTree>
    <p:extLst>
      <p:ext uri="{BB962C8B-B14F-4D97-AF65-F5344CB8AC3E}">
        <p14:creationId xmlns:p14="http://schemas.microsoft.com/office/powerpoint/2010/main" val="4260064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6B62-2817-C610-2D1F-4C9E8E096787}"/>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838A587F-D14D-8138-7485-3A4EE1E10A84}"/>
              </a:ext>
            </a:extLst>
          </p:cNvPr>
          <p:cNvSpPr>
            <a:spLocks noGrp="1"/>
          </p:cNvSpPr>
          <p:nvPr>
            <p:ph type="body" idx="1"/>
          </p:nvPr>
        </p:nvSpPr>
        <p:spPr>
          <a:xfrm>
            <a:off x="621188" y="1409149"/>
            <a:ext cx="8949055" cy="4501232"/>
          </a:xfrm>
        </p:spPr>
        <p:txBody>
          <a:bodyPr/>
          <a:lstStyle/>
          <a:p>
            <a:r>
              <a:rPr lang="en-IN" b="0" dirty="0"/>
              <a:t>CREATE TABLE Room (</a:t>
            </a:r>
          </a:p>
          <a:p>
            <a:r>
              <a:rPr lang="en-IN" b="0" dirty="0"/>
              <a:t>    </a:t>
            </a:r>
            <a:r>
              <a:rPr lang="en-IN" b="0" dirty="0" err="1"/>
              <a:t>RoomID</a:t>
            </a:r>
            <a:r>
              <a:rPr lang="en-IN" b="0" dirty="0"/>
              <a:t> INT PRIMARY KEY,</a:t>
            </a:r>
          </a:p>
          <a:p>
            <a:r>
              <a:rPr lang="en-IN" b="0" dirty="0"/>
              <a:t>    </a:t>
            </a:r>
            <a:r>
              <a:rPr lang="en-IN" b="0" dirty="0" err="1"/>
              <a:t>RoomType</a:t>
            </a:r>
            <a:r>
              <a:rPr lang="en-IN" b="0" dirty="0"/>
              <a:t> VARCHAR(50),</a:t>
            </a:r>
          </a:p>
          <a:p>
            <a:r>
              <a:rPr lang="en-IN" b="0" dirty="0"/>
              <a:t>    Status VARCHAR(30) DEFAULT 'Available'</a:t>
            </a:r>
          </a:p>
          <a:p>
            <a:r>
              <a:rPr lang="en-IN" b="0" dirty="0"/>
              <a:t>);</a:t>
            </a:r>
          </a:p>
          <a:p>
            <a:r>
              <a:rPr lang="en-IN" b="0" dirty="0"/>
              <a:t> </a:t>
            </a:r>
          </a:p>
          <a:p>
            <a:r>
              <a:rPr lang="en-IN" b="0" dirty="0"/>
              <a:t>CREATE TABLE Staff (</a:t>
            </a:r>
          </a:p>
          <a:p>
            <a:r>
              <a:rPr lang="en-IN" b="0" dirty="0"/>
              <a:t>    </a:t>
            </a:r>
            <a:r>
              <a:rPr lang="en-IN" b="0" dirty="0" err="1"/>
              <a:t>StaffID</a:t>
            </a:r>
            <a:r>
              <a:rPr lang="en-IN" b="0" dirty="0"/>
              <a:t> INT PRIMARY KEY,</a:t>
            </a:r>
          </a:p>
          <a:p>
            <a:r>
              <a:rPr lang="en-IN" b="0" dirty="0"/>
              <a:t>    Name VARCHAR(50),</a:t>
            </a:r>
          </a:p>
          <a:p>
            <a:r>
              <a:rPr lang="en-IN" b="0" dirty="0"/>
              <a:t>    Role VARCHAR(50),</a:t>
            </a:r>
          </a:p>
          <a:p>
            <a:r>
              <a:rPr lang="en-IN" b="0" dirty="0"/>
              <a:t>    </a:t>
            </a:r>
            <a:r>
              <a:rPr lang="en-IN" b="0" dirty="0" err="1"/>
              <a:t>DepartmentID</a:t>
            </a:r>
            <a:r>
              <a:rPr lang="en-IN" b="0" dirty="0"/>
              <a:t> INT,</a:t>
            </a:r>
          </a:p>
          <a:p>
            <a:r>
              <a:rPr lang="en-IN" b="0" dirty="0"/>
              <a:t>    FOREIGN KEY (</a:t>
            </a:r>
            <a:r>
              <a:rPr lang="en-IN" b="0" dirty="0" err="1"/>
              <a:t>DepartmentID</a:t>
            </a:r>
            <a:r>
              <a:rPr lang="en-IN" b="0" dirty="0"/>
              <a:t>)</a:t>
            </a:r>
          </a:p>
          <a:p>
            <a:r>
              <a:rPr lang="en-IN" b="0" dirty="0"/>
              <a:t>    REFERENCES Department(</a:t>
            </a:r>
            <a:r>
              <a:rPr lang="en-IN" b="0" dirty="0" err="1"/>
              <a:t>DepartmentID</a:t>
            </a:r>
            <a:r>
              <a:rPr lang="en-IN" b="0" dirty="0"/>
              <a:t>)</a:t>
            </a:r>
          </a:p>
          <a:p>
            <a:r>
              <a:rPr lang="en-IN" b="0" dirty="0"/>
              <a:t>);</a:t>
            </a:r>
          </a:p>
          <a:p>
            <a:endParaRPr lang="en-IN" dirty="0"/>
          </a:p>
        </p:txBody>
      </p:sp>
    </p:spTree>
    <p:extLst>
      <p:ext uri="{BB962C8B-B14F-4D97-AF65-F5344CB8AC3E}">
        <p14:creationId xmlns:p14="http://schemas.microsoft.com/office/powerpoint/2010/main" val="535338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SAMPLE DATA INSERTION</a:t>
            </a:r>
          </a:p>
        </p:txBody>
      </p:sp>
      <p:sp>
        <p:nvSpPr>
          <p:cNvPr id="9" name="TextBox 8">
            <a:extLst>
              <a:ext uri="{FF2B5EF4-FFF2-40B4-BE49-F238E27FC236}">
                <a16:creationId xmlns:a16="http://schemas.microsoft.com/office/drawing/2014/main" id="{7A800D15-2389-5516-DA9E-AC441973A9C8}"/>
              </a:ext>
            </a:extLst>
          </p:cNvPr>
          <p:cNvSpPr txBox="1"/>
          <p:nvPr/>
        </p:nvSpPr>
        <p:spPr>
          <a:xfrm>
            <a:off x="1638300" y="2057400"/>
            <a:ext cx="6781800"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  </a:t>
            </a:r>
          </a:p>
        </p:txBody>
      </p:sp>
      <p:sp>
        <p:nvSpPr>
          <p:cNvPr id="8" name="TextBox 7">
            <a:extLst>
              <a:ext uri="{FF2B5EF4-FFF2-40B4-BE49-F238E27FC236}">
                <a16:creationId xmlns:a16="http://schemas.microsoft.com/office/drawing/2014/main" id="{35E0741B-F329-82D4-6942-A11C1005D5B5}"/>
              </a:ext>
            </a:extLst>
          </p:cNvPr>
          <p:cNvSpPr txBox="1"/>
          <p:nvPr/>
        </p:nvSpPr>
        <p:spPr>
          <a:xfrm>
            <a:off x="904875" y="1181100"/>
            <a:ext cx="4352474" cy="5909310"/>
          </a:xfrm>
          <a:prstGeom prst="rect">
            <a:avLst/>
          </a:prstGeom>
          <a:noFill/>
        </p:spPr>
        <p:txBody>
          <a:bodyPr wrap="none" rtlCol="0">
            <a:spAutoFit/>
          </a:bodyPr>
          <a:lstStyle/>
          <a:p>
            <a:r>
              <a:rPr lang="en-IN" sz="1800" dirty="0"/>
              <a:t>INSERT INTO Patient VALUES</a:t>
            </a:r>
          </a:p>
          <a:p>
            <a:r>
              <a:rPr lang="en-IN" sz="1800" dirty="0"/>
              <a:t>(1,'Rahul','Kumar','9876543210','O+'),</a:t>
            </a:r>
          </a:p>
          <a:p>
            <a:r>
              <a:rPr lang="en-IN" sz="1800" dirty="0"/>
              <a:t>(2,'Anjali','Reddy','9876543211','A+’);</a:t>
            </a:r>
          </a:p>
          <a:p>
            <a:endParaRPr lang="en-IN" sz="1800" dirty="0"/>
          </a:p>
          <a:p>
            <a:r>
              <a:rPr lang="en-IN" sz="1800" dirty="0"/>
              <a:t>INSERT INTO Department VALUES</a:t>
            </a:r>
          </a:p>
          <a:p>
            <a:r>
              <a:rPr lang="en-IN" sz="1800" dirty="0"/>
              <a:t>(101,'Cardiology','Block A'),</a:t>
            </a:r>
          </a:p>
          <a:p>
            <a:r>
              <a:rPr lang="en-IN" sz="1800" dirty="0"/>
              <a:t>(102,'Neurology','Block B');</a:t>
            </a:r>
          </a:p>
          <a:p>
            <a:r>
              <a:rPr lang="en-IN" sz="1800" dirty="0"/>
              <a:t> </a:t>
            </a:r>
          </a:p>
          <a:p>
            <a:r>
              <a:rPr lang="en-IN" sz="1800" dirty="0"/>
              <a:t>INSERT INTO Doctor VALUES</a:t>
            </a:r>
          </a:p>
          <a:p>
            <a:r>
              <a:rPr lang="en-IN" sz="1800" dirty="0"/>
              <a:t>(201,'Arun','Sharma',101),</a:t>
            </a:r>
          </a:p>
          <a:p>
            <a:r>
              <a:rPr lang="en-IN" sz="1800" dirty="0"/>
              <a:t>(202,'Priya','Mehta',102);</a:t>
            </a:r>
          </a:p>
          <a:p>
            <a:r>
              <a:rPr lang="en-IN" sz="1800" dirty="0"/>
              <a:t> </a:t>
            </a:r>
          </a:p>
          <a:p>
            <a:r>
              <a:rPr lang="en-IN" sz="1800" dirty="0"/>
              <a:t>INSERT INTO Appointment VALUES</a:t>
            </a:r>
          </a:p>
          <a:p>
            <a:r>
              <a:rPr lang="en-IN" sz="1800" dirty="0"/>
              <a:t>(301,1,201,'2026-09-16','Scheduled'),</a:t>
            </a:r>
          </a:p>
          <a:p>
            <a:r>
              <a:rPr lang="en-IN" sz="1800" dirty="0"/>
              <a:t>(302,2,202,'2026-09-17','Completed');</a:t>
            </a:r>
          </a:p>
          <a:p>
            <a:r>
              <a:rPr lang="en-IN" sz="1800" dirty="0"/>
              <a:t> </a:t>
            </a:r>
          </a:p>
          <a:p>
            <a:r>
              <a:rPr lang="en-IN" sz="1800" dirty="0"/>
              <a:t>INSERT INTO </a:t>
            </a:r>
            <a:r>
              <a:rPr lang="en-IN" sz="1800" dirty="0" err="1"/>
              <a:t>MedicalRecord</a:t>
            </a:r>
            <a:r>
              <a:rPr lang="en-IN" sz="1800" dirty="0"/>
              <a:t> VALUES</a:t>
            </a:r>
          </a:p>
          <a:p>
            <a:r>
              <a:rPr lang="en-IN" sz="1800" dirty="0"/>
              <a:t>(401,1,'Fever','Medication'),</a:t>
            </a:r>
          </a:p>
          <a:p>
            <a:r>
              <a:rPr lang="en-IN" sz="1800" dirty="0"/>
              <a:t>(402,2,'Migraine','Rest and medicine');</a:t>
            </a:r>
          </a:p>
          <a:p>
            <a:r>
              <a:rPr lang="en-IN" sz="1800" dirty="0"/>
              <a:t> </a:t>
            </a:r>
          </a:p>
          <a:p>
            <a:endParaRPr lang="en-IN" dirty="0"/>
          </a:p>
        </p:txBody>
      </p:sp>
    </p:spTree>
    <p:extLst>
      <p:ext uri="{BB962C8B-B14F-4D97-AF65-F5344CB8AC3E}">
        <p14:creationId xmlns:p14="http://schemas.microsoft.com/office/powerpoint/2010/main" val="26077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6E52C-28D2-1512-2EA7-86FBB996D89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1D7DF72-975F-1D42-6ACD-466B606BF2CD}"/>
              </a:ext>
            </a:extLst>
          </p:cNvPr>
          <p:cNvSpPr>
            <a:spLocks noGrp="1"/>
          </p:cNvSpPr>
          <p:nvPr>
            <p:ph type="body" idx="1"/>
          </p:nvPr>
        </p:nvSpPr>
        <p:spPr>
          <a:xfrm>
            <a:off x="621188" y="1409149"/>
            <a:ext cx="8949055" cy="3685624"/>
          </a:xfrm>
        </p:spPr>
        <p:txBody>
          <a:bodyPr/>
          <a:lstStyle/>
          <a:p>
            <a:r>
              <a:rPr lang="en-IN" sz="2000" b="0" dirty="0"/>
              <a:t>INSERT INTO Billing VALUES</a:t>
            </a:r>
          </a:p>
          <a:p>
            <a:r>
              <a:rPr lang="en-IN" sz="2000" b="0" dirty="0"/>
              <a:t>(501,1,2500.00,'Pending'),</a:t>
            </a:r>
          </a:p>
          <a:p>
            <a:r>
              <a:rPr lang="en-IN" sz="2000" b="0" dirty="0"/>
              <a:t>(502,2,1800.00,'Paid');</a:t>
            </a:r>
          </a:p>
          <a:p>
            <a:r>
              <a:rPr lang="en-IN" sz="2000" b="0" dirty="0"/>
              <a:t> </a:t>
            </a:r>
          </a:p>
          <a:p>
            <a:r>
              <a:rPr lang="en-IN" sz="2000" b="0" dirty="0"/>
              <a:t>INSERT INTO Room VALUES</a:t>
            </a:r>
          </a:p>
          <a:p>
            <a:r>
              <a:rPr lang="en-IN" sz="2000" b="0" dirty="0"/>
              <a:t>(601,'Private','Occupied'),</a:t>
            </a:r>
          </a:p>
          <a:p>
            <a:r>
              <a:rPr lang="en-IN" sz="2000" b="0" dirty="0"/>
              <a:t>(602,'General </a:t>
            </a:r>
            <a:r>
              <a:rPr lang="en-IN" sz="2000" b="0" dirty="0" err="1"/>
              <a:t>Ward','Available</a:t>
            </a:r>
            <a:r>
              <a:rPr lang="en-IN" sz="2000" b="0" dirty="0"/>
              <a:t>');</a:t>
            </a:r>
          </a:p>
          <a:p>
            <a:r>
              <a:rPr lang="en-IN" sz="2000" b="0" dirty="0"/>
              <a:t> </a:t>
            </a:r>
          </a:p>
          <a:p>
            <a:r>
              <a:rPr lang="en-IN" sz="2000" b="0" dirty="0"/>
              <a:t>INSERT INTO Staff VALUES</a:t>
            </a:r>
          </a:p>
          <a:p>
            <a:r>
              <a:rPr lang="en-IN" sz="2000" b="0" dirty="0"/>
              <a:t>(701,'Lakshmi','Nurse',101),</a:t>
            </a:r>
          </a:p>
          <a:p>
            <a:r>
              <a:rPr lang="en-IN" sz="2000" b="0" dirty="0"/>
              <a:t>(702,'Ramesh','Receptionist',102);</a:t>
            </a:r>
          </a:p>
          <a:p>
            <a:endParaRPr lang="en-IN" dirty="0"/>
          </a:p>
        </p:txBody>
      </p:sp>
    </p:spTree>
    <p:extLst>
      <p:ext uri="{BB962C8B-B14F-4D97-AF65-F5344CB8AC3E}">
        <p14:creationId xmlns:p14="http://schemas.microsoft.com/office/powerpoint/2010/main" val="3708954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DDL, DML &amp; DQL OPERATIONS</a:t>
            </a:r>
          </a:p>
        </p:txBody>
      </p:sp>
      <p:sp>
        <p:nvSpPr>
          <p:cNvPr id="101" name="TextBox Content Left"/>
          <p:cNvSpPr txBox="1"/>
          <p:nvPr/>
        </p:nvSpPr>
        <p:spPr>
          <a:xfrm>
            <a:off x="514350" y="1362075"/>
            <a:ext cx="4400550" cy="5800725"/>
          </a:xfrm>
          <a:prstGeom prst="rect">
            <a:avLst/>
          </a:prstGeom>
          <a:noFill/>
        </p:spPr>
        <p:txBody>
          <a:bodyPr wrap="square" rtlCol="0">
            <a:noAutofit/>
          </a:bodyPr>
          <a:lstStyle/>
          <a:p>
            <a:r>
              <a:rPr lang="en-IN" sz="1800" b="1" dirty="0">
                <a:solidFill>
                  <a:srgbClr val="FF6600"/>
                </a:solidFill>
              </a:rPr>
              <a:t>DDL – Data Definition Language</a:t>
            </a:r>
          </a:p>
          <a:p>
            <a:r>
              <a:rPr lang="en-IN" sz="1400" dirty="0"/>
              <a:t>ALTER TABLE Doctor</a:t>
            </a:r>
          </a:p>
          <a:p>
            <a:r>
              <a:rPr lang="en-IN" sz="1400" dirty="0"/>
              <a:t>ADD Email VARCHAR(100);</a:t>
            </a:r>
          </a:p>
          <a:p>
            <a:endParaRPr lang="en-IN" sz="1000" dirty="0"/>
          </a:p>
          <a:p>
            <a:r>
              <a:rPr lang="en-IN" sz="1400" dirty="0"/>
              <a:t>DROP TABLE IF EXISTS </a:t>
            </a:r>
            <a:r>
              <a:rPr lang="en-IN" sz="1400" dirty="0" err="1"/>
              <a:t>TempPatient</a:t>
            </a:r>
            <a:r>
              <a:rPr lang="en-IN" sz="1400" dirty="0"/>
              <a:t>;</a:t>
            </a:r>
          </a:p>
          <a:p>
            <a:endParaRPr lang="en-IN" sz="1400" dirty="0"/>
          </a:p>
          <a:p>
            <a:endParaRPr lang="en-IN" sz="1400" b="1" dirty="0"/>
          </a:p>
          <a:p>
            <a:endParaRPr lang="en-IN" sz="1400" b="1" dirty="0"/>
          </a:p>
          <a:p>
            <a:endParaRPr lang="en-IN" sz="1200" dirty="0"/>
          </a:p>
          <a:p>
            <a:r>
              <a:rPr lang="en-IN" sz="1800" b="1" dirty="0">
                <a:solidFill>
                  <a:srgbClr val="FF6600"/>
                </a:solidFill>
              </a:rPr>
              <a:t>DML – Data Manipulation Language</a:t>
            </a:r>
          </a:p>
          <a:p>
            <a:r>
              <a:rPr lang="en-IN" sz="1400" dirty="0"/>
              <a:t>UPDATE Appointment</a:t>
            </a:r>
          </a:p>
          <a:p>
            <a:r>
              <a:rPr lang="en-IN" sz="1400" dirty="0"/>
              <a:t>SET Status = 'Completed'</a:t>
            </a:r>
          </a:p>
          <a:p>
            <a:r>
              <a:rPr lang="en-IN" sz="1400" dirty="0"/>
              <a:t>WHERE AppointmentID = 301;</a:t>
            </a:r>
          </a:p>
          <a:p>
            <a:endParaRPr lang="en-IN" sz="1000" dirty="0"/>
          </a:p>
          <a:p>
            <a:r>
              <a:rPr lang="en-IN" sz="1400" dirty="0"/>
              <a:t>DELETE FROM Billing</a:t>
            </a:r>
          </a:p>
          <a:p>
            <a:r>
              <a:rPr lang="en-IN" sz="1400" dirty="0"/>
              <a:t>WHERE PaymentStatus = 'Paid'</a:t>
            </a:r>
          </a:p>
          <a:p>
            <a:r>
              <a:rPr lang="en-IN" sz="1400" dirty="0"/>
              <a:t>AND BillDate &lt; '2025-01-01</a:t>
            </a:r>
            <a:r>
              <a:rPr lang="en-IN" sz="1400" b="1" dirty="0"/>
              <a:t>';</a:t>
            </a:r>
          </a:p>
        </p:txBody>
      </p:sp>
      <p:sp>
        <p:nvSpPr>
          <p:cNvPr id="102" name="TextBox Content Right"/>
          <p:cNvSpPr txBox="1"/>
          <p:nvPr/>
        </p:nvSpPr>
        <p:spPr>
          <a:xfrm>
            <a:off x="5257800" y="1362075"/>
            <a:ext cx="4286250" cy="5800725"/>
          </a:xfrm>
          <a:prstGeom prst="rect">
            <a:avLst/>
          </a:prstGeom>
          <a:noFill/>
        </p:spPr>
        <p:txBody>
          <a:bodyPr wrap="square" rtlCol="0">
            <a:noAutofit/>
          </a:bodyPr>
          <a:lstStyle/>
          <a:p>
            <a:r>
              <a:rPr lang="en-IN" sz="1800" b="1" dirty="0">
                <a:solidFill>
                  <a:srgbClr val="FF6600"/>
                </a:solidFill>
              </a:rPr>
              <a:t>DQL – Data Query Language</a:t>
            </a:r>
          </a:p>
          <a:p>
            <a:r>
              <a:rPr lang="en-IN" sz="1400" dirty="0"/>
              <a:t>SELECT PatientID, FirstName, LastName</a:t>
            </a:r>
          </a:p>
          <a:p>
            <a:r>
              <a:rPr lang="en-IN" sz="1400" dirty="0"/>
              <a:t>FROM Patient</a:t>
            </a:r>
          </a:p>
          <a:p>
            <a:r>
              <a:rPr lang="en-IN" sz="1400" dirty="0"/>
              <a:t>WHERE BloodGroup = 'O+';</a:t>
            </a:r>
          </a:p>
          <a:p>
            <a:endParaRPr lang="en-IN" sz="1000" dirty="0"/>
          </a:p>
          <a:p>
            <a:r>
              <a:rPr lang="en-IN" sz="1400" dirty="0"/>
              <a:t>SELECT DoctorID, FirstName, Specialization</a:t>
            </a:r>
          </a:p>
          <a:p>
            <a:r>
              <a:rPr lang="en-IN" sz="1400" dirty="0"/>
              <a:t>FROM Doctor</a:t>
            </a:r>
          </a:p>
          <a:p>
            <a:r>
              <a:rPr lang="en-IN" sz="1400" dirty="0"/>
              <a:t>ORDER BY Specialization;</a:t>
            </a:r>
          </a:p>
          <a:p>
            <a:endParaRPr lang="en-IN" sz="1000" dirty="0"/>
          </a:p>
          <a:p>
            <a:r>
              <a:rPr lang="en-IN" sz="1400" dirty="0"/>
              <a:t>SELECT COUNT(*) AS TotalAppointments</a:t>
            </a:r>
          </a:p>
          <a:p>
            <a:r>
              <a:rPr lang="en-IN" sz="1400" dirty="0"/>
              <a:t>FROM Appointment</a:t>
            </a:r>
          </a:p>
          <a:p>
            <a:r>
              <a:rPr lang="en-IN" sz="1400" dirty="0"/>
              <a:t>WHERE Status = 'Scheduled';</a:t>
            </a:r>
          </a:p>
        </p:txBody>
      </p:sp>
    </p:spTree>
    <p:extLst>
      <p:ext uri="{BB962C8B-B14F-4D97-AF65-F5344CB8AC3E}">
        <p14:creationId xmlns:p14="http://schemas.microsoft.com/office/powerpoint/2010/main" val="26077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CRUD &amp; SQL QUERIES</a:t>
            </a:r>
          </a:p>
        </p:txBody>
      </p:sp>
      <p:sp>
        <p:nvSpPr>
          <p:cNvPr id="101" name="TextBox Content Left"/>
          <p:cNvSpPr txBox="1"/>
          <p:nvPr/>
        </p:nvSpPr>
        <p:spPr>
          <a:xfrm>
            <a:off x="514350" y="1362075"/>
            <a:ext cx="4400550" cy="5800725"/>
          </a:xfrm>
          <a:prstGeom prst="rect">
            <a:avLst/>
          </a:prstGeom>
          <a:noFill/>
        </p:spPr>
        <p:txBody>
          <a:bodyPr wrap="square" rtlCol="0">
            <a:noAutofit/>
          </a:bodyPr>
          <a:lstStyle/>
          <a:p>
            <a:r>
              <a:rPr lang="en-IN" sz="1700" b="1" dirty="0">
                <a:solidFill>
                  <a:srgbClr val="FF6600"/>
                </a:solidFill>
              </a:rPr>
              <a:t>CRUD Operations</a:t>
            </a:r>
          </a:p>
          <a:p>
            <a:r>
              <a:rPr lang="en-IN" sz="1400" dirty="0"/>
              <a:t>CREATE  (Insert)</a:t>
            </a:r>
          </a:p>
          <a:p>
            <a:r>
              <a:rPr lang="en-IN" sz="1300" dirty="0"/>
              <a:t>INSERT INTO Staff VALUES</a:t>
            </a:r>
          </a:p>
          <a:p>
            <a:r>
              <a:rPr lang="en-IN" sz="1300" dirty="0"/>
              <a:t>(703,'Kavya','Nurse',102);</a:t>
            </a:r>
          </a:p>
          <a:p>
            <a:endParaRPr lang="en-IN" sz="900" dirty="0"/>
          </a:p>
          <a:p>
            <a:r>
              <a:rPr lang="en-IN" sz="1400" dirty="0"/>
              <a:t>READ  (Select)</a:t>
            </a:r>
          </a:p>
          <a:p>
            <a:r>
              <a:rPr lang="en-IN" sz="1300" dirty="0"/>
              <a:t>SELECT * FROM Patient</a:t>
            </a:r>
          </a:p>
          <a:p>
            <a:r>
              <a:rPr lang="en-IN" sz="1300" dirty="0"/>
              <a:t>WHERE PatientID = 1;</a:t>
            </a:r>
          </a:p>
          <a:p>
            <a:endParaRPr lang="en-IN" sz="900" dirty="0"/>
          </a:p>
          <a:p>
            <a:r>
              <a:rPr lang="en-IN" sz="1400" dirty="0"/>
              <a:t>UPDATE</a:t>
            </a:r>
          </a:p>
          <a:p>
            <a:r>
              <a:rPr lang="en-IN" sz="1300" dirty="0"/>
              <a:t>UPDATE Doctor SET Phone='9876500000'</a:t>
            </a:r>
          </a:p>
          <a:p>
            <a:r>
              <a:rPr lang="en-IN" sz="1300" dirty="0"/>
              <a:t>WHERE DoctorID = 201;</a:t>
            </a:r>
          </a:p>
          <a:p>
            <a:endParaRPr lang="en-IN" sz="900" dirty="0"/>
          </a:p>
          <a:p>
            <a:r>
              <a:rPr lang="en-IN" sz="1400" dirty="0"/>
              <a:t>DELETE</a:t>
            </a:r>
          </a:p>
          <a:p>
            <a:r>
              <a:rPr lang="en-IN" sz="1300" dirty="0"/>
              <a:t>DELETE FROM Appointment</a:t>
            </a:r>
          </a:p>
          <a:p>
            <a:r>
              <a:rPr lang="en-IN" sz="1300" dirty="0"/>
              <a:t>WHERE AppointmentID = 302;</a:t>
            </a:r>
          </a:p>
        </p:txBody>
      </p:sp>
      <p:sp>
        <p:nvSpPr>
          <p:cNvPr id="102" name="TextBox Content Right"/>
          <p:cNvSpPr txBox="1"/>
          <p:nvPr/>
        </p:nvSpPr>
        <p:spPr>
          <a:xfrm>
            <a:off x="5257800" y="1362075"/>
            <a:ext cx="4286250" cy="5800725"/>
          </a:xfrm>
          <a:prstGeom prst="rect">
            <a:avLst/>
          </a:prstGeom>
          <a:noFill/>
        </p:spPr>
        <p:txBody>
          <a:bodyPr wrap="square" rtlCol="0">
            <a:noAutofit/>
          </a:bodyPr>
          <a:lstStyle/>
          <a:p>
            <a:r>
              <a:rPr lang="en-IN" sz="1700" b="1" dirty="0">
                <a:solidFill>
                  <a:srgbClr val="FF6600"/>
                </a:solidFill>
              </a:rPr>
              <a:t>Joins, Aggregates &amp; Views</a:t>
            </a:r>
          </a:p>
          <a:p>
            <a:r>
              <a:rPr lang="en-IN" sz="1250" i="1" dirty="0"/>
              <a:t>-- JOIN: appointments with names</a:t>
            </a:r>
          </a:p>
          <a:p>
            <a:r>
              <a:rPr lang="en-IN" sz="1250" dirty="0"/>
              <a:t>SELECT p.FirstName, d.FirstName, a.ApptDate</a:t>
            </a:r>
          </a:p>
          <a:p>
            <a:r>
              <a:rPr lang="en-IN" sz="1250" dirty="0"/>
              <a:t>FROM Appointment a</a:t>
            </a:r>
          </a:p>
          <a:p>
            <a:r>
              <a:rPr lang="en-IN" sz="1250" dirty="0"/>
              <a:t>JOIN Patient p ON a.PatientID=p.PatientID</a:t>
            </a:r>
          </a:p>
          <a:p>
            <a:r>
              <a:rPr lang="en-IN" sz="1250" dirty="0"/>
              <a:t>JOIN Doctor d ON a.DoctorID=d.DoctorID;</a:t>
            </a:r>
          </a:p>
          <a:p>
            <a:endParaRPr lang="en-IN" sz="800" dirty="0"/>
          </a:p>
          <a:p>
            <a:r>
              <a:rPr lang="en-IN" sz="1250" i="1" dirty="0"/>
              <a:t>-- Aggregate + GROUP BY</a:t>
            </a:r>
          </a:p>
          <a:p>
            <a:r>
              <a:rPr lang="en-IN" sz="1250" dirty="0"/>
              <a:t>SELECT PatientID, COUNT(*) AS Visits,</a:t>
            </a:r>
          </a:p>
          <a:p>
            <a:r>
              <a:rPr lang="en-IN" sz="1250" dirty="0"/>
              <a:t>SUM(Amount) AS TotalBill</a:t>
            </a:r>
          </a:p>
          <a:p>
            <a:r>
              <a:rPr lang="en-IN" sz="1250" dirty="0"/>
              <a:t>FROM Billing GROUP BY PatientID;</a:t>
            </a:r>
          </a:p>
          <a:p>
            <a:endParaRPr lang="en-IN" sz="800" dirty="0"/>
          </a:p>
          <a:p>
            <a:r>
              <a:rPr lang="en-IN" sz="1250" i="1" dirty="0"/>
              <a:t>-- VIEW</a:t>
            </a:r>
          </a:p>
          <a:p>
            <a:r>
              <a:rPr lang="en-IN" sz="1250" dirty="0"/>
              <a:t>CREATE VIEW PatientBillSummary AS</a:t>
            </a:r>
          </a:p>
          <a:p>
            <a:r>
              <a:rPr lang="en-IN" sz="1250" dirty="0"/>
              <a:t>SELECT p.PatientID, SUM(b.Amount) AS Due</a:t>
            </a:r>
          </a:p>
          <a:p>
            <a:r>
              <a:rPr lang="en-IN" sz="1250" dirty="0"/>
              <a:t>FROM Patient p JOIN Billing b</a:t>
            </a:r>
          </a:p>
          <a:p>
            <a:r>
              <a:rPr lang="en-IN" sz="1250" dirty="0"/>
              <a:t>ON p.PatientID=b.PatientID</a:t>
            </a:r>
          </a:p>
          <a:p>
            <a:r>
              <a:rPr lang="en-IN" sz="1250" dirty="0"/>
              <a:t>GROUP BY p.PatientID;</a:t>
            </a:r>
          </a:p>
        </p:txBody>
      </p:sp>
    </p:spTree>
    <p:extLst>
      <p:ext uri="{BB962C8B-B14F-4D97-AF65-F5344CB8AC3E}">
        <p14:creationId xmlns:p14="http://schemas.microsoft.com/office/powerpoint/2010/main" val="26077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 INTEGRITY &amp; VALIDATION</a:t>
            </a:r>
          </a:p>
        </p:txBody>
      </p:sp>
      <p:sp>
        <p:nvSpPr>
          <p:cNvPr id="101" name="TextBox Content Left"/>
          <p:cNvSpPr txBox="1"/>
          <p:nvPr/>
        </p:nvSpPr>
        <p:spPr>
          <a:xfrm>
            <a:off x="514350" y="1362075"/>
            <a:ext cx="4400550" cy="5800725"/>
          </a:xfrm>
          <a:prstGeom prst="rect">
            <a:avLst/>
          </a:prstGeom>
          <a:noFill/>
        </p:spPr>
        <p:txBody>
          <a:bodyPr wrap="square" rtlCol="0">
            <a:noAutofit/>
          </a:bodyPr>
          <a:lstStyle/>
          <a:p>
            <a:r>
              <a:rPr lang="en-IN" sz="1800" b="1" dirty="0">
                <a:solidFill>
                  <a:srgbClr val="FF6600"/>
                </a:solidFill>
              </a:rPr>
              <a:t>Constraints Enforced</a:t>
            </a:r>
          </a:p>
          <a:p>
            <a:pPr marL="228600" lvl="0" indent="-228600">
              <a:buFont typeface="Arial" panose="020B0604020202020204" pitchFamily="34" charset="0"/>
              <a:buChar char="•"/>
            </a:pPr>
            <a:r>
              <a:rPr lang="en-IN" sz="1500" dirty="0"/>
              <a:t>PRIMARY KEY on PatientID, DoctorID, AppointmentID and every table key — blocks duplicate identifiers.</a:t>
            </a:r>
          </a:p>
          <a:p>
            <a:pPr marL="228600" lvl="0" indent="-228600">
              <a:buFont typeface="Arial" panose="020B0604020202020204" pitchFamily="34" charset="0"/>
              <a:buChar char="•"/>
            </a:pPr>
            <a:endParaRPr lang="en-IN" sz="1500" dirty="0"/>
          </a:p>
          <a:p>
            <a:pPr marL="228600" lvl="0" indent="-228600">
              <a:buFont typeface="Arial" panose="020B0604020202020204" pitchFamily="34" charset="0"/>
              <a:buChar char="•"/>
            </a:pPr>
            <a:r>
              <a:rPr lang="en-IN" sz="1500" dirty="0"/>
              <a:t>FOREIGN KEY links Appointment, Medical Record, Billing and Room back to Patient and Doctor — prevents orphan records.</a:t>
            </a:r>
          </a:p>
          <a:p>
            <a:pPr marL="228600" lvl="0" indent="-228600">
              <a:buFont typeface="Arial" panose="020B0604020202020204" pitchFamily="34" charset="0"/>
              <a:buChar char="•"/>
            </a:pPr>
            <a:endParaRPr lang="en-IN" sz="1500" dirty="0"/>
          </a:p>
          <a:p>
            <a:pPr marL="228600" lvl="0" indent="-228600">
              <a:buFont typeface="Arial" panose="020B0604020202020204" pitchFamily="34" charset="0"/>
              <a:buChar char="•"/>
            </a:pPr>
            <a:r>
              <a:rPr lang="en-IN" sz="1500" dirty="0"/>
              <a:t>NOT NULL on FirstName, LastName and DeptName — mandatory fields can never be left empty.</a:t>
            </a:r>
          </a:p>
          <a:p>
            <a:pPr marL="228600" lvl="0" indent="-228600">
              <a:buFont typeface="Arial" panose="020B0604020202020204" pitchFamily="34" charset="0"/>
              <a:buChar char="•"/>
            </a:pPr>
            <a:endParaRPr lang="en-IN" sz="1500" dirty="0"/>
          </a:p>
          <a:p>
            <a:pPr marL="228600" lvl="0" indent="-228600">
              <a:buFont typeface="Arial" panose="020B0604020202020204" pitchFamily="34" charset="0"/>
              <a:buChar char="•"/>
            </a:pPr>
            <a:r>
              <a:rPr lang="en-IN" sz="1500" dirty="0"/>
              <a:t>DEFAULT values auto-fill Status ('Scheduled') and PaymentStatus ('Pending') when not supplied.</a:t>
            </a:r>
          </a:p>
          <a:p>
            <a:pPr marL="228600" lvl="0" indent="-228600">
              <a:buFont typeface="Arial" panose="020B0604020202020204" pitchFamily="34" charset="0"/>
              <a:buChar char="•"/>
            </a:pPr>
            <a:endParaRPr lang="en-IN" sz="1500" dirty="0"/>
          </a:p>
          <a:p>
            <a:pPr marL="228600" lvl="0" indent="-228600">
              <a:buFont typeface="Arial" panose="020B0604020202020204" pitchFamily="34" charset="0"/>
              <a:buChar char="•"/>
            </a:pPr>
            <a:r>
              <a:rPr lang="en-IN" sz="1500" dirty="0"/>
              <a:t>UNIQUE and CHECK constraints validate phone numbers and non-negative billing amounts.</a:t>
            </a:r>
          </a:p>
        </p:txBody>
      </p:sp>
      <p:sp>
        <p:nvSpPr>
          <p:cNvPr id="102" name="TextBox Content Right"/>
          <p:cNvSpPr txBox="1"/>
          <p:nvPr/>
        </p:nvSpPr>
        <p:spPr>
          <a:xfrm>
            <a:off x="5257800" y="1362075"/>
            <a:ext cx="4286250" cy="5800725"/>
          </a:xfrm>
          <a:prstGeom prst="rect">
            <a:avLst/>
          </a:prstGeom>
          <a:noFill/>
        </p:spPr>
        <p:txBody>
          <a:bodyPr wrap="square" rtlCol="0">
            <a:noAutofit/>
          </a:bodyPr>
          <a:lstStyle/>
          <a:p>
            <a:r>
              <a:rPr lang="en-IN" sz="1800" b="1" dirty="0">
                <a:solidFill>
                  <a:srgbClr val="FF6600"/>
                </a:solidFill>
              </a:rPr>
              <a:t>Sample Constraint &amp; Validation Checks</a:t>
            </a:r>
          </a:p>
          <a:p>
            <a:r>
              <a:rPr lang="en-IN" sz="1400" dirty="0"/>
              <a:t>ALTER TABLE Billing</a:t>
            </a:r>
          </a:p>
          <a:p>
            <a:r>
              <a:rPr lang="en-IN" sz="1400" dirty="0"/>
              <a:t>ADD CONSTRAINT chk_amount</a:t>
            </a:r>
          </a:p>
          <a:p>
            <a:r>
              <a:rPr lang="en-IN" sz="1400" dirty="0"/>
              <a:t>CHECK (Amount &gt;= 0);</a:t>
            </a:r>
          </a:p>
          <a:p>
            <a:endParaRPr lang="en-IN" sz="1000" dirty="0"/>
          </a:p>
          <a:p>
            <a:r>
              <a:rPr lang="en-IN" sz="1400" dirty="0"/>
              <a:t>ALTER TABLE Patient</a:t>
            </a:r>
          </a:p>
          <a:p>
            <a:r>
              <a:rPr lang="en-IN" sz="1400" dirty="0"/>
              <a:t>ADD CONSTRAINT uq_phone</a:t>
            </a:r>
          </a:p>
          <a:p>
            <a:r>
              <a:rPr lang="en-IN" sz="1400" dirty="0"/>
              <a:t>UNIQUE (Phone);</a:t>
            </a:r>
          </a:p>
          <a:p>
            <a:endParaRPr lang="en-IN" sz="1000" dirty="0"/>
          </a:p>
          <a:p>
            <a:r>
              <a:rPr lang="en-IN" sz="1300" dirty="0"/>
              <a:t>-- Duplicate key test (fails)</a:t>
            </a:r>
          </a:p>
          <a:p>
            <a:r>
              <a:rPr lang="en-IN" sz="1300" dirty="0"/>
              <a:t>INSERT INTO Patient VALUES</a:t>
            </a:r>
          </a:p>
          <a:p>
            <a:r>
              <a:rPr lang="en-IN" sz="1300" dirty="0"/>
              <a:t>(1,'Test','User','9999999999','B+');</a:t>
            </a:r>
          </a:p>
          <a:p>
            <a:r>
              <a:rPr lang="en-IN" sz="1300" dirty="0"/>
              <a:t>-- Error: Duplicate entry '1' for PatientID</a:t>
            </a:r>
          </a:p>
        </p:txBody>
      </p:sp>
    </p:spTree>
    <p:extLst>
      <p:ext uri="{BB962C8B-B14F-4D97-AF65-F5344CB8AC3E}">
        <p14:creationId xmlns:p14="http://schemas.microsoft.com/office/powerpoint/2010/main" val="26077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PROJECT DOCUMENTATION</a:t>
            </a:r>
          </a:p>
        </p:txBody>
      </p:sp>
      <p:sp>
        <p:nvSpPr>
          <p:cNvPr id="101" name="TextBox Content"/>
          <p:cNvSpPr txBox="1"/>
          <p:nvPr/>
        </p:nvSpPr>
        <p:spPr>
          <a:xfrm>
            <a:off x="1000125" y="1219200"/>
            <a:ext cx="8058150" cy="5800725"/>
          </a:xfrm>
          <a:prstGeom prst="rect">
            <a:avLst/>
          </a:prstGeom>
          <a:noFill/>
        </p:spPr>
        <p:txBody>
          <a:bodyPr wrap="square" rtlCol="0">
            <a:noAutofit/>
          </a:bodyPr>
          <a:lstStyle/>
          <a:p>
            <a:r>
              <a:rPr lang="en-IN" sz="1800" b="1" dirty="0">
                <a:solidFill>
                  <a:srgbClr val="FF6600"/>
                </a:solidFill>
              </a:rPr>
              <a:t>Documentation Checklist</a:t>
            </a:r>
          </a:p>
          <a:p>
            <a:pPr marL="228600" lvl="0" indent="-228600">
              <a:buFont typeface="Arial" panose="020B0604020202020204" pitchFamily="34" charset="0"/>
              <a:buChar char="•"/>
            </a:pPr>
            <a:r>
              <a:rPr lang="en-IN" sz="1700" dirty="0"/>
              <a:t>Problem statement, objectives &amp; scope of the Hospital Management System</a:t>
            </a:r>
          </a:p>
          <a:p>
            <a:pPr marL="228600" lvl="0" indent="-228600">
              <a:buFont typeface="Arial" panose="020B0604020202020204" pitchFamily="34" charset="0"/>
              <a:buChar char="•"/>
            </a:pPr>
            <a:endParaRPr lang="en-IN" sz="1700" dirty="0"/>
          </a:p>
          <a:p>
            <a:pPr marL="228600" lvl="0" indent="-228600">
              <a:buFont typeface="Arial" panose="020B0604020202020204" pitchFamily="34" charset="0"/>
              <a:buChar char="•"/>
            </a:pPr>
            <a:r>
              <a:rPr lang="en-IN" sz="1700" dirty="0"/>
              <a:t>ER diagram with all entities, attributes, relationships &amp; cardinalities</a:t>
            </a:r>
          </a:p>
          <a:p>
            <a:pPr marL="228600" lvl="0" indent="-228600">
              <a:buFont typeface="Arial" panose="020B0604020202020204" pitchFamily="34" charset="0"/>
              <a:buChar char="•"/>
            </a:pPr>
            <a:endParaRPr lang="en-IN" sz="1700" dirty="0"/>
          </a:p>
          <a:p>
            <a:pPr marL="228600" lvl="0" indent="-228600">
              <a:buFont typeface="Arial" panose="020B0604020202020204" pitchFamily="34" charset="0"/>
              <a:buChar char="•"/>
            </a:pPr>
            <a:r>
              <a:rPr lang="en-IN" sz="1700" dirty="0"/>
              <a:t>Relational schema with Primary Key &amp; Foreign Key mapping</a:t>
            </a:r>
          </a:p>
          <a:p>
            <a:pPr marL="228600" lvl="0" indent="-228600">
              <a:buFont typeface="Arial" panose="020B0604020202020204" pitchFamily="34" charset="0"/>
              <a:buChar char="•"/>
            </a:pPr>
            <a:endParaRPr lang="en-IN" sz="1700" dirty="0"/>
          </a:p>
          <a:p>
            <a:pPr marL="228600" lvl="0" indent="-228600">
              <a:buFont typeface="Arial" panose="020B0604020202020204" pitchFamily="34" charset="0"/>
              <a:buChar char="•"/>
            </a:pPr>
            <a:r>
              <a:rPr lang="en-IN" sz="1700" dirty="0"/>
              <a:t>DDL scripts for table creation and constraints</a:t>
            </a:r>
          </a:p>
          <a:p>
            <a:pPr marL="228600" lvl="0" indent="-228600">
              <a:buFont typeface="Arial" panose="020B0604020202020204" pitchFamily="34" charset="0"/>
              <a:buChar char="•"/>
            </a:pPr>
            <a:endParaRPr lang="en-IN" sz="1700" dirty="0"/>
          </a:p>
          <a:p>
            <a:pPr marL="228600" lvl="0" indent="-228600">
              <a:buFont typeface="Arial" panose="020B0604020202020204" pitchFamily="34" charset="0"/>
              <a:buChar char="•"/>
            </a:pPr>
            <a:r>
              <a:rPr lang="en-IN" sz="1700" dirty="0"/>
              <a:t>DML scripts for sample data insertion, updates &amp; deletes</a:t>
            </a:r>
          </a:p>
          <a:p>
            <a:pPr marL="228600" lvl="0" indent="-228600">
              <a:buFont typeface="Arial" panose="020B0604020202020204" pitchFamily="34" charset="0"/>
              <a:buChar char="•"/>
            </a:pPr>
            <a:endParaRPr lang="en-IN" sz="1700" dirty="0"/>
          </a:p>
          <a:p>
            <a:pPr marL="228600" lvl="0" indent="-228600">
              <a:buFont typeface="Arial" panose="020B0604020202020204" pitchFamily="34" charset="0"/>
              <a:buChar char="•"/>
            </a:pPr>
            <a:r>
              <a:rPr lang="en-IN" sz="1700" dirty="0"/>
              <a:t>DQL queries covering SELECT, JOIN, GROUP BY and aggregate functions</a:t>
            </a:r>
          </a:p>
          <a:p>
            <a:pPr marL="228600" lvl="0" indent="-228600">
              <a:buFont typeface="Arial" panose="020B0604020202020204" pitchFamily="34" charset="0"/>
              <a:buChar char="•"/>
            </a:pPr>
            <a:endParaRPr lang="en-IN" sz="1700" dirty="0"/>
          </a:p>
          <a:p>
            <a:pPr marL="228600" lvl="0" indent="-228600">
              <a:buFont typeface="Arial" panose="020B0604020202020204" pitchFamily="34" charset="0"/>
              <a:buChar char="•"/>
            </a:pPr>
            <a:r>
              <a:rPr lang="en-IN" sz="1700" dirty="0"/>
              <a:t>CRUD operation screenshots with query outputs</a:t>
            </a:r>
          </a:p>
          <a:p>
            <a:pPr marL="228600" lvl="0" indent="-228600">
              <a:buFont typeface="Arial" panose="020B0604020202020204" pitchFamily="34" charset="0"/>
              <a:buChar char="•"/>
            </a:pPr>
            <a:endParaRPr lang="en-IN" sz="1700" dirty="0"/>
          </a:p>
          <a:p>
            <a:pPr marL="228600" lvl="0" indent="-228600">
              <a:buFont typeface="Arial" panose="020B0604020202020204" pitchFamily="34" charset="0"/>
              <a:buChar char="•"/>
            </a:pPr>
            <a:r>
              <a:rPr lang="en-IN" sz="1700" dirty="0"/>
              <a:t>GitHub repository link and individual team member contributions</a:t>
            </a:r>
          </a:p>
          <a:p>
            <a:pPr marL="228600" lvl="0" indent="-228600">
              <a:buFont typeface="Arial" panose="020B0604020202020204" pitchFamily="34" charset="0"/>
              <a:buChar char="•"/>
            </a:pPr>
            <a:endParaRPr lang="en-IN" sz="1700" dirty="0"/>
          </a:p>
          <a:p>
            <a:pPr marL="228600" lvl="0" indent="-228600">
              <a:buFont typeface="Arial" panose="020B0604020202020204" pitchFamily="34" charset="0"/>
              <a:buChar char="•"/>
            </a:pPr>
            <a:r>
              <a:rPr lang="en-IN" sz="1700" dirty="0"/>
              <a:t>Conclusion, learnings and future scope of the project</a:t>
            </a:r>
          </a:p>
        </p:txBody>
      </p:sp>
    </p:spTree>
    <p:extLst>
      <p:ext uri="{BB962C8B-B14F-4D97-AF65-F5344CB8AC3E}">
        <p14:creationId xmlns:p14="http://schemas.microsoft.com/office/powerpoint/2010/main" val="26077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DEMONSTRATE &amp; PRESENT</a:t>
            </a:r>
          </a:p>
        </p:txBody>
      </p:sp>
      <p:sp>
        <p:nvSpPr>
          <p:cNvPr id="9" name="TextBox 8">
            <a:extLst>
              <a:ext uri="{FF2B5EF4-FFF2-40B4-BE49-F238E27FC236}">
                <a16:creationId xmlns:a16="http://schemas.microsoft.com/office/drawing/2014/main" id="{7A800D15-2389-5516-DA9E-AC441973A9C8}"/>
              </a:ext>
            </a:extLst>
          </p:cNvPr>
          <p:cNvSpPr txBox="1"/>
          <p:nvPr/>
        </p:nvSpPr>
        <p:spPr>
          <a:xfrm>
            <a:off x="1638300" y="2362200"/>
            <a:ext cx="6781800"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 </a:t>
            </a:r>
          </a:p>
        </p:txBody>
      </p:sp>
      <p:sp>
        <p:nvSpPr>
          <p:cNvPr id="8" name="TextBox 7">
            <a:extLst>
              <a:ext uri="{FF2B5EF4-FFF2-40B4-BE49-F238E27FC236}">
                <a16:creationId xmlns:a16="http://schemas.microsoft.com/office/drawing/2014/main" id="{CD89EFA9-8C89-9B5E-6265-87C5E5724061}"/>
              </a:ext>
            </a:extLst>
          </p:cNvPr>
          <p:cNvSpPr txBox="1"/>
          <p:nvPr/>
        </p:nvSpPr>
        <p:spPr>
          <a:xfrm>
            <a:off x="1000125" y="1295400"/>
            <a:ext cx="5256567" cy="3693319"/>
          </a:xfrm>
          <a:prstGeom prst="rect">
            <a:avLst/>
          </a:prstGeom>
          <a:noFill/>
        </p:spPr>
        <p:txBody>
          <a:bodyPr wrap="none" rtlCol="0">
            <a:spAutoFit/>
          </a:bodyPr>
          <a:lstStyle/>
          <a:p>
            <a:r>
              <a:rPr lang="en-IN" b="1" dirty="0"/>
              <a:t>Project Demonstration</a:t>
            </a:r>
            <a:endParaRPr lang="en-IN" dirty="0"/>
          </a:p>
          <a:p>
            <a:pPr marL="285750" lvl="0" indent="-285750">
              <a:buFont typeface="Arial" panose="020B0604020202020204" pitchFamily="34" charset="0"/>
              <a:buChar char="•"/>
            </a:pPr>
            <a:r>
              <a:rPr lang="en-IN" dirty="0"/>
              <a:t>Explain the problem statement and objectives. </a:t>
            </a:r>
          </a:p>
          <a:p>
            <a:pPr marL="285750" lvl="0" indent="-285750">
              <a:buFont typeface="Arial" panose="020B0604020202020204" pitchFamily="34" charset="0"/>
              <a:buChar char="•"/>
            </a:pPr>
            <a:r>
              <a:rPr lang="en-IN" dirty="0"/>
              <a:t>Present the entities and attributes. </a:t>
            </a:r>
          </a:p>
          <a:p>
            <a:pPr marL="285750" lvl="0" indent="-285750">
              <a:buFont typeface="Arial" panose="020B0604020202020204" pitchFamily="34" charset="0"/>
              <a:buChar char="•"/>
            </a:pPr>
            <a:r>
              <a:rPr lang="en-IN" dirty="0"/>
              <a:t>Explain the ER diagram and relationships. </a:t>
            </a:r>
          </a:p>
          <a:p>
            <a:pPr marL="285750" lvl="0" indent="-285750">
              <a:buFont typeface="Arial" panose="020B0604020202020204" pitchFamily="34" charset="0"/>
              <a:buChar char="•"/>
            </a:pPr>
            <a:r>
              <a:rPr lang="en-IN" dirty="0"/>
              <a:t>Present the relational database schema. </a:t>
            </a:r>
          </a:p>
          <a:p>
            <a:pPr marL="285750" lvl="0" indent="-285750">
              <a:buFont typeface="Arial" panose="020B0604020202020204" pitchFamily="34" charset="0"/>
              <a:buChar char="•"/>
            </a:pPr>
            <a:r>
              <a:rPr lang="en-IN" dirty="0"/>
              <a:t>Demonstrate the tables and constraints. </a:t>
            </a:r>
          </a:p>
          <a:p>
            <a:pPr marL="285750" lvl="0" indent="-285750">
              <a:buFont typeface="Arial" panose="020B0604020202020204" pitchFamily="34" charset="0"/>
              <a:buChar char="•"/>
            </a:pPr>
            <a:r>
              <a:rPr lang="en-IN" dirty="0"/>
              <a:t>Show the sample data. </a:t>
            </a:r>
          </a:p>
          <a:p>
            <a:pPr marL="285750" lvl="0" indent="-285750">
              <a:buFont typeface="Arial" panose="020B0604020202020204" pitchFamily="34" charset="0"/>
              <a:buChar char="•"/>
            </a:pPr>
            <a:r>
              <a:rPr lang="en-IN" dirty="0"/>
              <a:t>Execute SQL queries. </a:t>
            </a:r>
          </a:p>
          <a:p>
            <a:pPr marL="285750" lvl="0" indent="-285750">
              <a:buFont typeface="Arial" panose="020B0604020202020204" pitchFamily="34" charset="0"/>
              <a:buChar char="•"/>
            </a:pPr>
            <a:r>
              <a:rPr lang="en-IN" dirty="0"/>
              <a:t>Demonstrate CRUD operations. </a:t>
            </a:r>
          </a:p>
          <a:p>
            <a:pPr marL="285750" lvl="0" indent="-285750">
              <a:buFont typeface="Arial" panose="020B0604020202020204" pitchFamily="34" charset="0"/>
              <a:buChar char="•"/>
            </a:pPr>
            <a:r>
              <a:rPr lang="en-IN" dirty="0"/>
              <a:t>Show JOIN and aggregate queries. </a:t>
            </a:r>
          </a:p>
          <a:p>
            <a:pPr marL="285750" lvl="0" indent="-285750">
              <a:buFont typeface="Arial" panose="020B0604020202020204" pitchFamily="34" charset="0"/>
              <a:buChar char="•"/>
            </a:pPr>
            <a:r>
              <a:rPr lang="en-IN" dirty="0"/>
              <a:t>Explain data integrity and validation. </a:t>
            </a:r>
          </a:p>
          <a:p>
            <a:pPr marL="285750" lvl="0" indent="-285750">
              <a:buFont typeface="Arial" panose="020B0604020202020204" pitchFamily="34" charset="0"/>
              <a:buChar char="•"/>
            </a:pPr>
            <a:r>
              <a:rPr lang="en-IN" dirty="0"/>
              <a:t>Display the query results.</a:t>
            </a:r>
          </a:p>
          <a:p>
            <a:endParaRPr lang="en-IN" dirty="0"/>
          </a:p>
        </p:txBody>
      </p:sp>
      <p:sp>
        <p:nvSpPr>
          <p:cNvPr id="11" name="TextBox 10">
            <a:extLst>
              <a:ext uri="{FF2B5EF4-FFF2-40B4-BE49-F238E27FC236}">
                <a16:creationId xmlns:a16="http://schemas.microsoft.com/office/drawing/2014/main" id="{D3F40EC9-41E7-8757-64C5-07EDFE8D2605}"/>
              </a:ext>
            </a:extLst>
          </p:cNvPr>
          <p:cNvSpPr txBox="1"/>
          <p:nvPr/>
        </p:nvSpPr>
        <p:spPr>
          <a:xfrm>
            <a:off x="1076326" y="5153025"/>
            <a:ext cx="8365248" cy="1200329"/>
          </a:xfrm>
          <a:prstGeom prst="rect">
            <a:avLst/>
          </a:prstGeom>
          <a:noFill/>
        </p:spPr>
        <p:txBody>
          <a:bodyPr wrap="square" rtlCol="0">
            <a:spAutoFit/>
          </a:bodyPr>
          <a:lstStyle/>
          <a:p>
            <a:r>
              <a:rPr lang="en-IN" dirty="0"/>
              <a:t>“Finally, we demonstrate our Hospital Management System by showing the database tables, sample data, SQL queries, CRUD operations, and their outputs. Our project provides an organized and efficient way to manage important hospital information.”</a:t>
            </a:r>
          </a:p>
        </p:txBody>
      </p:sp>
    </p:spTree>
    <p:extLst>
      <p:ext uri="{BB962C8B-B14F-4D97-AF65-F5344CB8AC3E}">
        <p14:creationId xmlns:p14="http://schemas.microsoft.com/office/powerpoint/2010/main" val="26077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685800" y="1941684"/>
            <a:ext cx="9067800" cy="3693319"/>
          </a:xfrm>
          <a:prstGeom prst="rect">
            <a:avLst/>
          </a:prstGeom>
          <a:noFill/>
        </p:spPr>
        <p:txBody>
          <a:bodyPr wrap="square" rtlCol="0">
            <a:spAutoFit/>
          </a:bodyPr>
          <a:lstStyle/>
          <a:p>
            <a:r>
              <a:rPr lang="en-US" dirty="0"/>
              <a:t>The Hospital Management System project successfully designed a normalized relational database for managing important hospital operations. It includes eight main entities: Patient, Doctor, Department, Appointment, Medical Record, Billing, Room, and Staff, with appropriate attributes, relationships, and cardinalities. </a:t>
            </a:r>
          </a:p>
          <a:p>
            <a:endParaRPr lang="en-US" dirty="0"/>
          </a:p>
          <a:p>
            <a:r>
              <a:rPr lang="en-US" dirty="0"/>
              <a:t>The database uses Primary Keys, Foreign Keys, and constraints to maintain data integrity and reduce duplication. SQL operations such as DDL, DML, DQL, CRUD, Joins, and Aggregate Functions help in storing, updating, and retrieving hospital information efficiently. </a:t>
            </a:r>
          </a:p>
          <a:p>
            <a:endParaRPr lang="en-US" dirty="0"/>
          </a:p>
          <a:p>
            <a:r>
              <a:rPr lang="en-US" dirty="0"/>
              <a:t>Overall, the system helps reduce paperwork and manual errors, provide quick access to patient information, simplify appointment and billing management, and improve hospital operational efficiency.</a:t>
            </a:r>
            <a:endParaRPr lang="en-IN"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2739</TotalTime>
  <Words>1975</Words>
  <Application>Microsoft Office PowerPoint</Application>
  <PresentationFormat>Custom</PresentationFormat>
  <Paragraphs>390</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Cambria</vt:lpstr>
      <vt:lpstr>Palatino Linotype</vt:lpstr>
      <vt:lpstr>Times New Roman</vt:lpstr>
      <vt:lpstr>Wingdings</vt:lpstr>
      <vt:lpstr>Office Theme</vt:lpstr>
      <vt:lpstr>Database Management Systems Cornerstone Project Final Review (Review I &amp; II)</vt:lpstr>
      <vt:lpstr>PowerPoint Presentation</vt:lpstr>
      <vt:lpstr>.</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ramya sri</cp:lastModifiedBy>
  <cp:revision>59</cp:revision>
  <cp:lastPrinted>2025-10-14T18:21:49Z</cp:lastPrinted>
  <dcterms:created xsi:type="dcterms:W3CDTF">2025-10-10T08:28:06Z</dcterms:created>
  <dcterms:modified xsi:type="dcterms:W3CDTF">2026-09-22T05:41:14Z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